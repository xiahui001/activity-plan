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2B8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ver_sce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566928"/>
            <a:ext cx="5989320" cy="3703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58368" y="914400"/>
            <a:ext cx="5074920" cy="11704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90000"/>
              </a:lnSpc>
              <a:spcAft>
                <a:spcPts val="200"/>
              </a:spcAft>
            </a:pPr>
            <a:r>
              <a:rPr sz="3000" b="1">
                <a:solidFill>
                  <a:srgbClr val="153754"/>
                </a:solidFill>
                <a:latin typeface="Microsoft YaHei"/>
              </a:rPr>
              <a:t>致敬白衣天使</a:t>
            </a:r>
          </a:p>
          <a:p>
            <a:pPr algn="l">
              <a:lnSpc>
                <a:spcPct val="90000"/>
              </a:lnSpc>
              <a:spcAft>
                <a:spcPts val="200"/>
              </a:spcAft>
            </a:pPr>
            <a:r>
              <a:rPr sz="3000" b="1">
                <a:solidFill>
                  <a:srgbClr val="153754"/>
                </a:solidFill>
                <a:latin typeface="Microsoft YaHei"/>
              </a:rPr>
              <a:t>共赴健康生活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322576"/>
            <a:ext cx="480060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500" b="1">
                <a:solidFill>
                  <a:srgbClr val="2B7FC6"/>
                </a:solidFill>
                <a:latin typeface="Microsoft YaHei"/>
              </a:rPr>
              <a:t>医院护士节公益体检与健康生活倡导活动方案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816352"/>
            <a:ext cx="507492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20" b="0">
                <a:solidFill>
                  <a:srgbClr val="586878"/>
                </a:solidFill>
                <a:latin typeface="Microsoft YaHei"/>
              </a:rPr>
              <a:t>以护士节为契机，面向市民开放公益体检、健康咨询、科学运动互动与健康生活科普，让护理团队的专业守护被看见，也让市民把健康意识转化为一次真实行动。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3913632"/>
            <a:ext cx="804672" cy="310896"/>
          </a:xfrm>
          <a:prstGeom prst="roundRect">
            <a:avLst/>
          </a:prstGeom>
          <a:solidFill>
            <a:srgbClr val="2B7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3954780"/>
            <a:ext cx="731520" cy="274320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720" b="1">
                <a:solidFill>
                  <a:srgbClr val="FFFFFF"/>
                </a:solidFill>
                <a:latin typeface="Microsoft YaHei"/>
              </a:rPr>
              <a:t>护士节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645920" y="3913632"/>
            <a:ext cx="804672" cy="310896"/>
          </a:xfrm>
          <a:prstGeom prst="roundRect">
            <a:avLst/>
          </a:prstGeom>
          <a:solidFill>
            <a:srgbClr val="42B8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82496" y="3954780"/>
            <a:ext cx="731520" cy="274320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720" b="1">
                <a:solidFill>
                  <a:srgbClr val="FFFFFF"/>
                </a:solidFill>
                <a:latin typeface="Microsoft YaHei"/>
              </a:rPr>
              <a:t>公益体检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78608" y="3913632"/>
            <a:ext cx="804672" cy="310896"/>
          </a:xfrm>
          <a:prstGeom prst="roundRect">
            <a:avLst/>
          </a:prstGeom>
          <a:solidFill>
            <a:srgbClr val="6FBE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15184" y="3954780"/>
            <a:ext cx="731520" cy="274320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720" b="1">
                <a:solidFill>
                  <a:srgbClr val="FFFFFF"/>
                </a:solidFill>
                <a:latin typeface="Microsoft YaHei"/>
              </a:rPr>
              <a:t>健康咨询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11296" y="3913632"/>
            <a:ext cx="804672" cy="310896"/>
          </a:xfrm>
          <a:prstGeom prst="roundRect">
            <a:avLst/>
          </a:prstGeom>
          <a:solidFill>
            <a:srgbClr val="F49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47872" y="3954780"/>
            <a:ext cx="731520" cy="274320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720" b="1">
                <a:solidFill>
                  <a:srgbClr val="FFFFFF"/>
                </a:solidFill>
                <a:latin typeface="Microsoft YaHei"/>
              </a:rPr>
              <a:t>科学运动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43984" y="3913632"/>
            <a:ext cx="804672" cy="310896"/>
          </a:xfrm>
          <a:prstGeom prst="roundRect">
            <a:avLst/>
          </a:prstGeom>
          <a:solidFill>
            <a:srgbClr val="E766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60" y="3954780"/>
            <a:ext cx="731520" cy="274320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720" b="1">
                <a:solidFill>
                  <a:srgbClr val="FFFFFF"/>
                </a:solidFill>
                <a:latin typeface="Microsoft YaHei"/>
              </a:rPr>
              <a:t>社区公益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" y="4709160"/>
            <a:ext cx="4892040" cy="868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13232" y="4709160"/>
            <a:ext cx="73152" cy="868680"/>
          </a:xfrm>
          <a:prstGeom prst="rect">
            <a:avLst/>
          </a:prstGeom>
          <a:solidFill>
            <a:srgbClr val="42B8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7824" y="4818888"/>
            <a:ext cx="4599431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19" b="1">
                <a:solidFill>
                  <a:srgbClr val="42B8A4"/>
                </a:solidFill>
                <a:latin typeface="Microsoft YaHei"/>
              </a:rPr>
              <a:t>提案定位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" y="5148072"/>
            <a:ext cx="4599431" cy="356615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586878"/>
                </a:solidFill>
                <a:latin typeface="Microsoft YaHei"/>
              </a:rPr>
              <a:t>面向医院甲方的正式提案版本，覆盖活动策略、内容规划、现场设计、宣发引流、舞美物料、人员执行与风险保障。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53328" y="4709160"/>
            <a:ext cx="5257800" cy="868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053328" y="4709160"/>
            <a:ext cx="73152" cy="868680"/>
          </a:xfrm>
          <a:prstGeom prst="rect">
            <a:avLst/>
          </a:prstGeom>
          <a:solidFill>
            <a:srgbClr val="2B7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0" y="4818888"/>
            <a:ext cx="496519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19" b="1">
                <a:solidFill>
                  <a:srgbClr val="2B7FC6"/>
                </a:solidFill>
                <a:latin typeface="Microsoft YaHei"/>
              </a:rPr>
              <a:t>承办能力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5148072"/>
            <a:ext cx="4965192" cy="356615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586878"/>
                </a:solidFill>
                <a:latin typeface="Microsoft YaHei"/>
              </a:rPr>
              <a:t>我们具备策划、设计、美陈搭建、会议物料、展会搭建、自有舞台设备和现场执行团队，可一体化完成落地交付。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6144768"/>
            <a:ext cx="47548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50" b="0">
                <a:solidFill>
                  <a:srgbClr val="586878"/>
                </a:solidFill>
                <a:latin typeface="Microsoft YaHei"/>
              </a:rPr>
              <a:t>医院方｜护士节公益健康活动提案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2B8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56032"/>
            <a:ext cx="50292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900" b="1">
                <a:solidFill>
                  <a:srgbClr val="42B8A4"/>
                </a:solidFill>
                <a:latin typeface="Microsoft YaHe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64592"/>
            <a:ext cx="9966960" cy="4206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900" b="1">
                <a:solidFill>
                  <a:srgbClr val="153754"/>
                </a:solidFill>
                <a:latin typeface="Microsoft YaHei"/>
              </a:rPr>
              <a:t>汇报路径：先回答为什么做，再回答怎样落地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621792"/>
            <a:ext cx="978408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80" b="0">
                <a:solidFill>
                  <a:srgbClr val="586878"/>
                </a:solidFill>
                <a:latin typeface="Microsoft YaHei"/>
              </a:rPr>
              <a:t>本方案按甲方决策逻辑组织，从活动价值、内容体验到执行保障逐层展开。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378440" y="256032"/>
            <a:ext cx="1325880" cy="274320"/>
          </a:xfrm>
          <a:prstGeom prst="roundRect">
            <a:avLst/>
          </a:prstGeom>
          <a:solidFill>
            <a:srgbClr val="E4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15015" y="297180"/>
            <a:ext cx="1252728" cy="237744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750" b="1">
                <a:solidFill>
                  <a:srgbClr val="42B8A4"/>
                </a:solidFill>
                <a:latin typeface="Microsoft YaHei"/>
              </a:rPr>
              <a:t>目录</a:t>
            </a:r>
          </a:p>
        </p:txBody>
      </p:sp>
      <p:pic>
        <p:nvPicPr>
          <p:cNvPr id="9" name="Picture 8" descr="team_o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6768" y="658368"/>
            <a:ext cx="621792" cy="393192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76656" y="1188720"/>
            <a:ext cx="507492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76656" y="1188720"/>
            <a:ext cx="73152" cy="960120"/>
          </a:xfrm>
          <a:prstGeom prst="rect">
            <a:avLst/>
          </a:prstGeom>
          <a:solidFill>
            <a:srgbClr val="2B7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298448"/>
            <a:ext cx="478231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19" b="1">
                <a:solidFill>
                  <a:srgbClr val="2B7FC6"/>
                </a:solidFill>
                <a:latin typeface="Microsoft YaHei"/>
              </a:rPr>
              <a:t>01 项目背景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7" y="1627632"/>
            <a:ext cx="4782312" cy="4480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80" b="0">
                <a:solidFill>
                  <a:srgbClr val="586878"/>
                </a:solidFill>
                <a:latin typeface="Microsoft YaHei"/>
              </a:rPr>
              <a:t>护士节情感节点、公众健康意识和社区健康管理需求共同构成活动基础。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188720"/>
            <a:ext cx="507492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08776" y="1188720"/>
            <a:ext cx="73152" cy="960120"/>
          </a:xfrm>
          <a:prstGeom prst="rect">
            <a:avLst/>
          </a:prstGeom>
          <a:solidFill>
            <a:srgbClr val="42B8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73368" y="1298448"/>
            <a:ext cx="478231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19" b="1">
                <a:solidFill>
                  <a:srgbClr val="42B8A4"/>
                </a:solidFill>
                <a:latin typeface="Microsoft YaHei"/>
              </a:rPr>
              <a:t>02 活动策略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3368" y="1627632"/>
            <a:ext cx="4782312" cy="4480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80" b="0">
                <a:solidFill>
                  <a:srgbClr val="586878"/>
                </a:solidFill>
                <a:latin typeface="Microsoft YaHei"/>
              </a:rPr>
              <a:t>明确活动目标、人群动机、痛点机会和公益服务的核心转化路径。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6656" y="2423160"/>
            <a:ext cx="507492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76656" y="2423160"/>
            <a:ext cx="73152" cy="960120"/>
          </a:xfrm>
          <a:prstGeom prst="rect">
            <a:avLst/>
          </a:prstGeom>
          <a:solidFill>
            <a:srgbClr val="6FBE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7" y="2532888"/>
            <a:ext cx="478231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19" b="1">
                <a:solidFill>
                  <a:srgbClr val="6FBE7B"/>
                </a:solidFill>
                <a:latin typeface="Microsoft YaHei"/>
              </a:rPr>
              <a:t>03 主题创意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7" y="2862072"/>
            <a:ext cx="4782312" cy="4480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80" b="0">
                <a:solidFill>
                  <a:srgbClr val="586878"/>
                </a:solidFill>
                <a:latin typeface="Microsoft YaHei"/>
              </a:rPr>
              <a:t>以“被守护的健康”和“守护者的节日”为创意主轴，形成可传播主题。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08776" y="2423160"/>
            <a:ext cx="507492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08776" y="2423160"/>
            <a:ext cx="73152" cy="960120"/>
          </a:xfrm>
          <a:prstGeom prst="rect">
            <a:avLst/>
          </a:prstGeom>
          <a:solidFill>
            <a:srgbClr val="F49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73368" y="2532888"/>
            <a:ext cx="478231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19" b="1">
                <a:solidFill>
                  <a:srgbClr val="F49752"/>
                </a:solidFill>
                <a:latin typeface="Microsoft YaHei"/>
              </a:rPr>
              <a:t>04 内容规划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73368" y="2862072"/>
            <a:ext cx="4782312" cy="4480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80" b="0">
                <a:solidFill>
                  <a:srgbClr val="586878"/>
                </a:solidFill>
                <a:latin typeface="Microsoft YaHei"/>
              </a:rPr>
              <a:t>设计公益体检、健康咨询、运动互动、护士致敬和科普展陈。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76656" y="3657600"/>
            <a:ext cx="507492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76656" y="3657600"/>
            <a:ext cx="73152" cy="960120"/>
          </a:xfrm>
          <a:prstGeom prst="rect">
            <a:avLst/>
          </a:prstGeom>
          <a:solidFill>
            <a:srgbClr val="56A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7" y="3767328"/>
            <a:ext cx="478231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19" b="1">
                <a:solidFill>
                  <a:srgbClr val="56A0D6"/>
                </a:solidFill>
                <a:latin typeface="Microsoft YaHei"/>
              </a:rPr>
              <a:t>05 现场设计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7" y="4096512"/>
            <a:ext cx="4782312" cy="4480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80" b="0">
                <a:solidFill>
                  <a:srgbClr val="586878"/>
                </a:solidFill>
                <a:latin typeface="Microsoft YaHei"/>
              </a:rPr>
              <a:t>规划区域动线、美陈导视、舞美搭建、物料系统与拍照打卡点。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08776" y="3657600"/>
            <a:ext cx="507492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08776" y="3657600"/>
            <a:ext cx="73152" cy="960120"/>
          </a:xfrm>
          <a:prstGeom prst="rect">
            <a:avLst/>
          </a:prstGeom>
          <a:solidFill>
            <a:srgbClr val="E766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73368" y="3767328"/>
            <a:ext cx="478231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19" b="1">
                <a:solidFill>
                  <a:srgbClr val="E76660"/>
                </a:solidFill>
                <a:latin typeface="Microsoft YaHei"/>
              </a:rPr>
              <a:t>06 宣发引流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73368" y="4096512"/>
            <a:ext cx="4782312" cy="4480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80" b="0">
                <a:solidFill>
                  <a:srgbClr val="586878"/>
                </a:solidFill>
                <a:latin typeface="Microsoft YaHei"/>
              </a:rPr>
              <a:t>输出预热、当天、打卡和复盘四类朋友圈文案与传播动作。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76656" y="4892040"/>
            <a:ext cx="507492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76656" y="4892040"/>
            <a:ext cx="73152" cy="960120"/>
          </a:xfrm>
          <a:prstGeom prst="rect">
            <a:avLst/>
          </a:prstGeom>
          <a:solidFill>
            <a:srgbClr val="42B8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1247" y="5001768"/>
            <a:ext cx="478231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19" b="1">
                <a:solidFill>
                  <a:srgbClr val="42B8A4"/>
                </a:solidFill>
                <a:latin typeface="Microsoft YaHei"/>
              </a:rPr>
              <a:t>07 执行保障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7" y="5330952"/>
            <a:ext cx="4782312" cy="4480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80" b="0">
                <a:solidFill>
                  <a:srgbClr val="586878"/>
                </a:solidFill>
                <a:latin typeface="Microsoft YaHei"/>
              </a:rPr>
              <a:t>拆分人员职责、设备保障、医护协同、物料管理和风险预案。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08776" y="4892040"/>
            <a:ext cx="507492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208776" y="4892040"/>
            <a:ext cx="73152" cy="960120"/>
          </a:xfrm>
          <a:prstGeom prst="rect">
            <a:avLst/>
          </a:prstGeom>
          <a:solidFill>
            <a:srgbClr val="6FBE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73368" y="5001768"/>
            <a:ext cx="478231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19" b="1">
                <a:solidFill>
                  <a:srgbClr val="6FBE7B"/>
                </a:solidFill>
                <a:latin typeface="Microsoft YaHei"/>
              </a:rPr>
              <a:t>08 预期成果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73368" y="5330952"/>
            <a:ext cx="4782312" cy="4480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80" b="0">
                <a:solidFill>
                  <a:srgbClr val="586878"/>
                </a:solidFill>
                <a:latin typeface="Microsoft YaHei"/>
              </a:rPr>
              <a:t>沉淀公益服务数据、医院品牌声量、社区关系和后续健康管理入口。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6510528"/>
            <a:ext cx="60350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660" b="0">
                <a:solidFill>
                  <a:srgbClr val="586878"/>
                </a:solidFill>
                <a:latin typeface="Microsoft YaHei"/>
              </a:rPr>
              <a:t>护士节公益健康活动方案｜活动策划 · 视觉设计 · 舞美搭建 · 设备执行一体化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675120" y="6565392"/>
            <a:ext cx="4983480" cy="18288"/>
          </a:xfrm>
          <a:prstGeom prst="rect">
            <a:avLst/>
          </a:prstGeom>
          <a:solidFill>
            <a:srgbClr val="DB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2B8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56032"/>
            <a:ext cx="50292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900" b="1">
                <a:solidFill>
                  <a:srgbClr val="42B8A4"/>
                </a:solidFill>
                <a:latin typeface="Microsoft YaHe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64592"/>
            <a:ext cx="9966960" cy="4206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900" b="1">
                <a:solidFill>
                  <a:srgbClr val="153754"/>
                </a:solidFill>
                <a:latin typeface="Microsoft YaHei"/>
              </a:rPr>
              <a:t>项目理解：这不是一场内部节庆，而是一场公益服务开放日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621792"/>
            <a:ext cx="978408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80" b="0">
                <a:solidFill>
                  <a:srgbClr val="586878"/>
                </a:solidFill>
                <a:latin typeface="Microsoft YaHei"/>
              </a:rPr>
              <a:t>护士节提供情感入口，公益体检和健康生活倡导提供市民参与理由，医院品牌公益传播完成价值沉淀。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378440" y="256032"/>
            <a:ext cx="1325880" cy="274320"/>
          </a:xfrm>
          <a:prstGeom prst="roundRect">
            <a:avLst/>
          </a:prstGeom>
          <a:solidFill>
            <a:srgbClr val="E4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15015" y="297180"/>
            <a:ext cx="1252728" cy="237744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750" b="1">
                <a:solidFill>
                  <a:srgbClr val="42B8A4"/>
                </a:solidFill>
                <a:latin typeface="Microsoft YaHei"/>
              </a:rPr>
              <a:t>理解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216152"/>
            <a:ext cx="4709160" cy="31821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heckup_sce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" y="1271016"/>
            <a:ext cx="4599432" cy="307238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15000" y="1225296"/>
            <a:ext cx="109728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1">
                <a:solidFill>
                  <a:srgbClr val="42B8A4"/>
                </a:solidFill>
                <a:latin typeface="Microsoft YaHei"/>
              </a:rPr>
              <a:t>核心判断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0" y="1536192"/>
            <a:ext cx="5623560" cy="8961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40" b="1">
                <a:solidFill>
                  <a:srgbClr val="153754"/>
                </a:solidFill>
                <a:latin typeface="Microsoft YaHei"/>
              </a:rPr>
              <a:t>本次活动应从“医院内部庆祝”升级为“面向市民的开放式公益健康行动”。它用护士节的社会情感降低沟通距离，用基础体检和面对面咨询提供真实服务，再通过朋友圈打卡和社区传播把医院公益形象带到更多人身边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15000" y="2743200"/>
            <a:ext cx="2514600" cy="841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715000" y="2743200"/>
            <a:ext cx="73152" cy="841248"/>
          </a:xfrm>
          <a:prstGeom prst="rect">
            <a:avLst/>
          </a:prstGeom>
          <a:solidFill>
            <a:srgbClr val="2B7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79592" y="2852928"/>
            <a:ext cx="222199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19" b="1">
                <a:solidFill>
                  <a:srgbClr val="2B7FC6"/>
                </a:solidFill>
                <a:latin typeface="Microsoft YaHei"/>
              </a:rPr>
              <a:t>节日致敬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79592" y="3182112"/>
            <a:ext cx="2221992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19" b="0">
                <a:solidFill>
                  <a:srgbClr val="586878"/>
                </a:solidFill>
                <a:latin typeface="Microsoft YaHei"/>
              </a:rPr>
              <a:t>让护理团队的专业、耐心和陪伴被公众正式看见。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03920" y="2743200"/>
            <a:ext cx="2514600" cy="841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503920" y="2743200"/>
            <a:ext cx="73152" cy="841248"/>
          </a:xfrm>
          <a:prstGeom prst="rect">
            <a:avLst/>
          </a:prstGeom>
          <a:solidFill>
            <a:srgbClr val="42B8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68512" y="2852928"/>
            <a:ext cx="222199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19" b="1">
                <a:solidFill>
                  <a:srgbClr val="42B8A4"/>
                </a:solidFill>
                <a:latin typeface="Microsoft YaHei"/>
              </a:rPr>
              <a:t>公益服务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68512" y="3182112"/>
            <a:ext cx="2221992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19" b="0">
                <a:solidFill>
                  <a:srgbClr val="586878"/>
                </a:solidFill>
                <a:latin typeface="Microsoft YaHei"/>
              </a:rPr>
              <a:t>把基础健康检测和免费咨询带到市民身边，降低参与门槛。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715000" y="3767328"/>
            <a:ext cx="2514600" cy="841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715000" y="3767328"/>
            <a:ext cx="73152" cy="841248"/>
          </a:xfrm>
          <a:prstGeom prst="rect">
            <a:avLst/>
          </a:prstGeom>
          <a:solidFill>
            <a:srgbClr val="6FBE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79592" y="3877056"/>
            <a:ext cx="222199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19" b="1">
                <a:solidFill>
                  <a:srgbClr val="6FBE7B"/>
                </a:solidFill>
                <a:latin typeface="Microsoft YaHei"/>
              </a:rPr>
              <a:t>生活倡导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79592" y="4206240"/>
            <a:ext cx="2221992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19" b="0">
                <a:solidFill>
                  <a:srgbClr val="586878"/>
                </a:solidFill>
                <a:latin typeface="Microsoft YaHei"/>
              </a:rPr>
              <a:t>把指标解释、运动指导和慢病预防转化为可执行建议。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503920" y="3767328"/>
            <a:ext cx="2514600" cy="841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503920" y="3767328"/>
            <a:ext cx="73152" cy="841248"/>
          </a:xfrm>
          <a:prstGeom prst="rect">
            <a:avLst/>
          </a:prstGeom>
          <a:solidFill>
            <a:srgbClr val="F49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68512" y="3877056"/>
            <a:ext cx="222199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19" b="1">
                <a:solidFill>
                  <a:srgbClr val="F49752"/>
                </a:solidFill>
                <a:latin typeface="Microsoft YaHei"/>
              </a:rPr>
              <a:t>品牌传播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68512" y="4206240"/>
            <a:ext cx="2221992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19" b="0">
                <a:solidFill>
                  <a:srgbClr val="586878"/>
                </a:solidFill>
                <a:latin typeface="Microsoft YaHei"/>
              </a:rPr>
              <a:t>通过真实参与画面建立医院“专业可信、服务有温度”的认知。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" y="4709160"/>
            <a:ext cx="10652760" cy="786384"/>
          </a:xfrm>
          <a:prstGeom prst="roundRect">
            <a:avLst/>
          </a:prstGeom>
          <a:solidFill>
            <a:srgbClr val="E4F8F4"/>
          </a:solidFill>
          <a:ln w="10160">
            <a:solidFill>
              <a:srgbClr val="DB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85800" y="4709160"/>
            <a:ext cx="73152" cy="786384"/>
          </a:xfrm>
          <a:prstGeom prst="rect">
            <a:avLst/>
          </a:prstGeom>
          <a:solidFill>
            <a:srgbClr val="42B8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0392" y="4818888"/>
            <a:ext cx="1036015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19" b="1">
                <a:solidFill>
                  <a:srgbClr val="42B8A4"/>
                </a:solidFill>
                <a:latin typeface="Microsoft YaHei"/>
              </a:rPr>
              <a:t>落地原则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2" y="5148072"/>
            <a:ext cx="10360152" cy="274319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586878"/>
                </a:solidFill>
                <a:latin typeface="Microsoft YaHei"/>
              </a:rPr>
              <a:t>所有现场内容都要形成闭环：市民到场有引导，检测后有人解释，互动后能带走建议，离场前可扫码了解后续服务。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510528"/>
            <a:ext cx="60350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660" b="0">
                <a:solidFill>
                  <a:srgbClr val="586878"/>
                </a:solidFill>
                <a:latin typeface="Microsoft YaHei"/>
              </a:rPr>
              <a:t>护士节公益健康活动方案｜活动策划 · 视觉设计 · 舞美搭建 · 设备执行一体化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675120" y="6565392"/>
            <a:ext cx="4983480" cy="18288"/>
          </a:xfrm>
          <a:prstGeom prst="rect">
            <a:avLst/>
          </a:prstGeom>
          <a:solidFill>
            <a:srgbClr val="DB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2B8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56032"/>
            <a:ext cx="50292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900" b="1">
                <a:solidFill>
                  <a:srgbClr val="42B8A4"/>
                </a:solidFill>
                <a:latin typeface="Microsoft YaHei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64592"/>
            <a:ext cx="9966960" cy="4206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900" b="1">
                <a:solidFill>
                  <a:srgbClr val="153754"/>
                </a:solidFill>
                <a:latin typeface="Microsoft YaHei"/>
              </a:rPr>
              <a:t>活动背景：护士节情感与公众健康需求同频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621792"/>
            <a:ext cx="978408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80" b="0">
                <a:solidFill>
                  <a:srgbClr val="586878"/>
                </a:solidFill>
                <a:latin typeface="Microsoft YaHei"/>
              </a:rPr>
              <a:t>活动成立的关键，不在于制造热闹，而在于让医院公益服务与市民真实健康需求发生连接。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378440" y="256032"/>
            <a:ext cx="1325880" cy="274320"/>
          </a:xfrm>
          <a:prstGeom prst="roundRect">
            <a:avLst/>
          </a:prstGeom>
          <a:solidFill>
            <a:srgbClr val="E4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15015" y="297180"/>
            <a:ext cx="1252728" cy="237744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750" b="1">
                <a:solidFill>
                  <a:srgbClr val="42B8A4"/>
                </a:solidFill>
                <a:latin typeface="Microsoft YaHei"/>
              </a:rPr>
              <a:t>背景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143000"/>
            <a:ext cx="507492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143000"/>
            <a:ext cx="73152" cy="1143000"/>
          </a:xfrm>
          <a:prstGeom prst="rect">
            <a:avLst/>
          </a:prstGeom>
          <a:solidFill>
            <a:srgbClr val="2B7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1252728"/>
            <a:ext cx="478231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19" b="1">
                <a:solidFill>
                  <a:srgbClr val="2B7FC6"/>
                </a:solidFill>
                <a:latin typeface="Microsoft YaHei"/>
              </a:rPr>
              <a:t>护士节社会情感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1581912"/>
            <a:ext cx="4782312" cy="63093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19" b="0">
                <a:solidFill>
                  <a:srgbClr val="586878"/>
                </a:solidFill>
                <a:latin typeface="Microsoft YaHei"/>
              </a:rPr>
              <a:t>护理团队长期承担照护、沟通、陪伴和应急处置工作。护士节天然具备公众情感认同，适合做一次正式而温暖的社会化表达。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0488" y="1143000"/>
            <a:ext cx="507492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0488" y="1143000"/>
            <a:ext cx="73152" cy="1143000"/>
          </a:xfrm>
          <a:prstGeom prst="rect">
            <a:avLst/>
          </a:prstGeom>
          <a:solidFill>
            <a:srgbClr val="42B8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79" y="1252728"/>
            <a:ext cx="478231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19" b="1">
                <a:solidFill>
                  <a:srgbClr val="42B8A4"/>
                </a:solidFill>
                <a:latin typeface="Microsoft YaHei"/>
              </a:rPr>
              <a:t>公众健康意识提升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79" y="1581912"/>
            <a:ext cx="4782312" cy="63093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19" b="0">
                <a:solidFill>
                  <a:srgbClr val="586878"/>
                </a:solidFill>
                <a:latin typeface="Microsoft YaHei"/>
              </a:rPr>
              <a:t>血压、血糖、体重、睡眠和运动等基础健康话题与生活高度相关。市民愿意参与低门槛、即时获得结果的检测体验。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2624328"/>
            <a:ext cx="507492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2624328"/>
            <a:ext cx="73152" cy="1143000"/>
          </a:xfrm>
          <a:prstGeom prst="rect">
            <a:avLst/>
          </a:prstGeom>
          <a:solidFill>
            <a:srgbClr val="6FBE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59" y="2734056"/>
            <a:ext cx="478231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19" b="1">
                <a:solidFill>
                  <a:srgbClr val="6FBE7B"/>
                </a:solidFill>
                <a:latin typeface="Microsoft YaHei"/>
              </a:rPr>
              <a:t>医院公益服务可感知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" y="3063240"/>
            <a:ext cx="4782312" cy="63093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19" b="0">
                <a:solidFill>
                  <a:srgbClr val="586878"/>
                </a:solidFill>
                <a:latin typeface="Microsoft YaHei"/>
              </a:rPr>
              <a:t>公益价值需要被看见：免费体检、面对面解释、健康建议卡和后续服务二维码，会让市民真正感知医院的服务能力。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0488" y="2624328"/>
            <a:ext cx="507492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90488" y="2624328"/>
            <a:ext cx="73152" cy="1143000"/>
          </a:xfrm>
          <a:prstGeom prst="rect">
            <a:avLst/>
          </a:prstGeom>
          <a:solidFill>
            <a:srgbClr val="F49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79" y="2734056"/>
            <a:ext cx="478231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19" b="1">
                <a:solidFill>
                  <a:srgbClr val="F49752"/>
                </a:solidFill>
                <a:latin typeface="Microsoft YaHei"/>
              </a:rPr>
              <a:t>社区健康管理需求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79" y="3063240"/>
            <a:ext cx="4782312" cy="63093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19" b="0">
                <a:solidFill>
                  <a:srgbClr val="586878"/>
                </a:solidFill>
                <a:latin typeface="Microsoft YaHei"/>
              </a:rPr>
              <a:t>中老年、慢病人群、职场亚健康与亲子家庭都需要持续的健康教育和服务入口，医院可借活动建立长期连接。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76656" y="4343400"/>
            <a:ext cx="3657600" cy="15361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consultation_sce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398264"/>
            <a:ext cx="3547872" cy="1426464"/>
          </a:xfrm>
          <a:prstGeom prst="rect">
            <a:avLst/>
          </a:prstGeom>
        </p:spPr>
      </p:pic>
      <p:sp>
        <p:nvSpPr>
          <p:cNvPr id="27" name="Rounded Rectangle 26"/>
          <p:cNvSpPr/>
          <p:nvPr/>
        </p:nvSpPr>
        <p:spPr>
          <a:xfrm>
            <a:off x="4553712" y="4343400"/>
            <a:ext cx="6784848" cy="1536192"/>
          </a:xfrm>
          <a:prstGeom prst="roundRect">
            <a:avLst/>
          </a:prstGeom>
          <a:solidFill>
            <a:srgbClr val="E4F8F4"/>
          </a:solidFill>
          <a:ln w="10160">
            <a:solidFill>
              <a:srgbClr val="DB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53712" y="4343400"/>
            <a:ext cx="73152" cy="1536192"/>
          </a:xfrm>
          <a:prstGeom prst="rect">
            <a:avLst/>
          </a:prstGeom>
          <a:solidFill>
            <a:srgbClr val="42B8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18304" y="4453128"/>
            <a:ext cx="64922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19" b="1">
                <a:solidFill>
                  <a:srgbClr val="42B8A4"/>
                </a:solidFill>
                <a:latin typeface="Microsoft YaHei"/>
              </a:rPr>
              <a:t>结论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18304" y="4782312"/>
            <a:ext cx="6492240" cy="1024127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50" b="0">
                <a:solidFill>
                  <a:srgbClr val="586878"/>
                </a:solidFill>
                <a:latin typeface="Microsoft YaHei"/>
              </a:rPr>
              <a:t>护士节不仅是致敬护理团队的节点，也是医院把专业健康服务送到市民身边、把公益形象转化为公众体验的最佳窗口。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510528"/>
            <a:ext cx="60350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660" b="0">
                <a:solidFill>
                  <a:srgbClr val="586878"/>
                </a:solidFill>
                <a:latin typeface="Microsoft YaHei"/>
              </a:rPr>
              <a:t>护士节公益健康活动方案｜活动策划 · 视觉设计 · 舞美搭建 · 设备执行一体化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675120" y="6565392"/>
            <a:ext cx="4983480" cy="18288"/>
          </a:xfrm>
          <a:prstGeom prst="rect">
            <a:avLst/>
          </a:prstGeom>
          <a:solidFill>
            <a:srgbClr val="DB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2B8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56032"/>
            <a:ext cx="50292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900" b="1">
                <a:solidFill>
                  <a:srgbClr val="42B8A4"/>
                </a:solidFill>
                <a:latin typeface="Microsoft YaHei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64592"/>
            <a:ext cx="9966960" cy="4206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900" b="1">
                <a:solidFill>
                  <a:srgbClr val="153754"/>
                </a:solidFill>
                <a:latin typeface="Microsoft YaHei"/>
              </a:rPr>
              <a:t>痛点与机会：把“知道要健康”变成“今天就行动”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621792"/>
            <a:ext cx="978408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80" b="0">
                <a:solidFill>
                  <a:srgbClr val="586878"/>
                </a:solidFill>
                <a:latin typeface="Microsoft YaHei"/>
              </a:rPr>
              <a:t>市民缺少的不是口号，而是低门槛的触发点、看得懂的解释和愿意分享的现场体验。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378440" y="256032"/>
            <a:ext cx="1325880" cy="274320"/>
          </a:xfrm>
          <a:prstGeom prst="roundRect">
            <a:avLst/>
          </a:prstGeom>
          <a:solidFill>
            <a:srgbClr val="E4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15015" y="297180"/>
            <a:ext cx="1252728" cy="237744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750" b="1">
                <a:solidFill>
                  <a:srgbClr val="42B8A4"/>
                </a:solidFill>
                <a:latin typeface="Microsoft YaHei"/>
              </a:rPr>
              <a:t>策略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207008"/>
            <a:ext cx="676656" cy="265176"/>
          </a:xfrm>
          <a:prstGeom prst="roundRect">
            <a:avLst/>
          </a:prstGeom>
          <a:solidFill>
            <a:srgbClr val="E766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2376" y="1248156"/>
            <a:ext cx="603504" cy="228599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740" b="1">
                <a:solidFill>
                  <a:srgbClr val="FFFFFF"/>
                </a:solidFill>
                <a:latin typeface="Microsoft YaHei"/>
              </a:rPr>
              <a:t>痛点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170432"/>
            <a:ext cx="210312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153754"/>
                </a:solidFill>
                <a:latin typeface="Microsoft YaHei"/>
              </a:rPr>
              <a:t>体检常被拖延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794760" y="1216152"/>
            <a:ext cx="777240" cy="256032"/>
          </a:xfrm>
          <a:prstGeom prst="rightArrow">
            <a:avLst/>
          </a:prstGeom>
          <a:solidFill>
            <a:srgbClr val="DB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846320" y="1207008"/>
            <a:ext cx="676656" cy="265176"/>
          </a:xfrm>
          <a:prstGeom prst="roundRect">
            <a:avLst/>
          </a:prstGeom>
          <a:solidFill>
            <a:srgbClr val="42B8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82896" y="1248156"/>
            <a:ext cx="603504" cy="228599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740" b="1">
                <a:solidFill>
                  <a:srgbClr val="FFFFFF"/>
                </a:solidFill>
                <a:latin typeface="Microsoft YaHei"/>
              </a:rPr>
              <a:t>机会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23560" y="1152144"/>
            <a:ext cx="54406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19" b="0">
                <a:solidFill>
                  <a:srgbClr val="586878"/>
                </a:solidFill>
                <a:latin typeface="Microsoft YaHei"/>
              </a:rPr>
              <a:t>用公益体检降低行动门槛，现场完成血压、血糖、BMI、心率和基础问诊。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2286000"/>
            <a:ext cx="676656" cy="265176"/>
          </a:xfrm>
          <a:prstGeom prst="roundRect">
            <a:avLst/>
          </a:prstGeom>
          <a:solidFill>
            <a:srgbClr val="E766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2376" y="2327148"/>
            <a:ext cx="603504" cy="228599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740" b="1">
                <a:solidFill>
                  <a:srgbClr val="FFFFFF"/>
                </a:solidFill>
                <a:latin typeface="Microsoft YaHei"/>
              </a:rPr>
              <a:t>痛点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2249424"/>
            <a:ext cx="210312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153754"/>
                </a:solidFill>
                <a:latin typeface="Microsoft YaHei"/>
              </a:rPr>
              <a:t>指标看不懂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3794760" y="2295144"/>
            <a:ext cx="777240" cy="256032"/>
          </a:xfrm>
          <a:prstGeom prst="rightArrow">
            <a:avLst/>
          </a:prstGeom>
          <a:solidFill>
            <a:srgbClr val="DB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846320" y="2286000"/>
            <a:ext cx="676656" cy="265176"/>
          </a:xfrm>
          <a:prstGeom prst="roundRect">
            <a:avLst/>
          </a:prstGeom>
          <a:solidFill>
            <a:srgbClr val="42B8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82896" y="2327148"/>
            <a:ext cx="603504" cy="228599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740" b="1">
                <a:solidFill>
                  <a:srgbClr val="FFFFFF"/>
                </a:solidFill>
                <a:latin typeface="Microsoft YaHei"/>
              </a:rPr>
              <a:t>机会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23560" y="2231136"/>
            <a:ext cx="54406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19" b="0">
                <a:solidFill>
                  <a:srgbClr val="586878"/>
                </a:solidFill>
                <a:latin typeface="Microsoft YaHei"/>
              </a:rPr>
              <a:t>检测后由医护解释结果，给出复查建议、生活方式建议和健康管理入口。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3364991"/>
            <a:ext cx="676656" cy="265176"/>
          </a:xfrm>
          <a:prstGeom prst="roundRect">
            <a:avLst/>
          </a:prstGeom>
          <a:solidFill>
            <a:srgbClr val="E766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2376" y="3406139"/>
            <a:ext cx="603504" cy="228599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740" b="1">
                <a:solidFill>
                  <a:srgbClr val="FFFFFF"/>
                </a:solidFill>
                <a:latin typeface="Microsoft YaHei"/>
              </a:rPr>
              <a:t>痛点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1328" y="3328415"/>
            <a:ext cx="210312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153754"/>
                </a:solidFill>
                <a:latin typeface="Microsoft YaHei"/>
              </a:rPr>
              <a:t>公益活动偏单向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3794760" y="3374135"/>
            <a:ext cx="777240" cy="256032"/>
          </a:xfrm>
          <a:prstGeom prst="rightArrow">
            <a:avLst/>
          </a:prstGeom>
          <a:solidFill>
            <a:srgbClr val="DB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846320" y="3364991"/>
            <a:ext cx="676656" cy="265176"/>
          </a:xfrm>
          <a:prstGeom prst="roundRect">
            <a:avLst/>
          </a:prstGeom>
          <a:solidFill>
            <a:srgbClr val="42B8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82896" y="3406139"/>
            <a:ext cx="603504" cy="228599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740" b="1">
                <a:solidFill>
                  <a:srgbClr val="FFFFFF"/>
                </a:solidFill>
                <a:latin typeface="Microsoft YaHei"/>
              </a:rPr>
              <a:t>机会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23560" y="3310127"/>
            <a:ext cx="54406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19" b="0">
                <a:solidFill>
                  <a:srgbClr val="586878"/>
                </a:solidFill>
                <a:latin typeface="Microsoft YaHei"/>
              </a:rPr>
              <a:t>把讲座、咨询、运动互动、祝福墙和健康打卡组合成可停留的体验。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4443984"/>
            <a:ext cx="676656" cy="265176"/>
          </a:xfrm>
          <a:prstGeom prst="roundRect">
            <a:avLst/>
          </a:prstGeom>
          <a:solidFill>
            <a:srgbClr val="E766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2376" y="4485132"/>
            <a:ext cx="603504" cy="228599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740" b="1">
                <a:solidFill>
                  <a:srgbClr val="FFFFFF"/>
                </a:solidFill>
                <a:latin typeface="Microsoft YaHei"/>
              </a:rPr>
              <a:t>痛点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81328" y="4407408"/>
            <a:ext cx="210312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153754"/>
                </a:solidFill>
                <a:latin typeface="Microsoft YaHei"/>
              </a:rPr>
              <a:t>健康传播太官方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3794760" y="4453128"/>
            <a:ext cx="777240" cy="256032"/>
          </a:xfrm>
          <a:prstGeom prst="rightArrow">
            <a:avLst/>
          </a:prstGeom>
          <a:solidFill>
            <a:srgbClr val="DB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846320" y="4443984"/>
            <a:ext cx="676656" cy="265176"/>
          </a:xfrm>
          <a:prstGeom prst="roundRect">
            <a:avLst/>
          </a:prstGeom>
          <a:solidFill>
            <a:srgbClr val="42B8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82896" y="4485132"/>
            <a:ext cx="603504" cy="228599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740" b="1">
                <a:solidFill>
                  <a:srgbClr val="FFFFFF"/>
                </a:solidFill>
                <a:latin typeface="Microsoft YaHei"/>
              </a:rPr>
              <a:t>机会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23560" y="4389120"/>
            <a:ext cx="54406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19" b="0">
                <a:solidFill>
                  <a:srgbClr val="586878"/>
                </a:solidFill>
                <a:latin typeface="Microsoft YaHei"/>
              </a:rPr>
              <a:t>用真实服务照片、亲和朋友圈文案和打卡装置形成市民愿意转发的素材。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961120" y="4553712"/>
            <a:ext cx="1938528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social_ph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15984" y="4608576"/>
            <a:ext cx="1828800" cy="1307592"/>
          </a:xfrm>
          <a:prstGeom prst="rect">
            <a:avLst/>
          </a:prstGeom>
        </p:spPr>
      </p:pic>
      <p:sp>
        <p:nvSpPr>
          <p:cNvPr id="39" name="Rounded Rectangle 38"/>
          <p:cNvSpPr/>
          <p:nvPr/>
        </p:nvSpPr>
        <p:spPr>
          <a:xfrm>
            <a:off x="685800" y="5486400"/>
            <a:ext cx="7973568" cy="7498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85800" y="5486400"/>
            <a:ext cx="73152" cy="749808"/>
          </a:xfrm>
          <a:prstGeom prst="rect">
            <a:avLst/>
          </a:prstGeom>
          <a:solidFill>
            <a:srgbClr val="2B7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50392" y="5596128"/>
            <a:ext cx="768096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19" b="1">
                <a:solidFill>
                  <a:srgbClr val="2B7FC6"/>
                </a:solidFill>
                <a:latin typeface="Microsoft YaHei"/>
              </a:rPr>
              <a:t>策略抓手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0392" y="5925312"/>
            <a:ext cx="7680960" cy="237743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80" b="0">
                <a:solidFill>
                  <a:srgbClr val="586878"/>
                </a:solidFill>
                <a:latin typeface="Microsoft YaHei"/>
              </a:rPr>
              <a:t>现场体验链路设计为“登记领取流程卡 → 分区体验 → 医护解释 → 健康行动打卡 → 扫码获取后续资料”。这条链路能同时解决参与、理解、传播和留资四件事。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6510528"/>
            <a:ext cx="60350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660" b="0">
                <a:solidFill>
                  <a:srgbClr val="586878"/>
                </a:solidFill>
                <a:latin typeface="Microsoft YaHei"/>
              </a:rPr>
              <a:t>护士节公益健康活动方案｜活动策划 · 视觉设计 · 舞美搭建 · 设备执行一体化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675120" y="6565392"/>
            <a:ext cx="4983480" cy="18288"/>
          </a:xfrm>
          <a:prstGeom prst="rect">
            <a:avLst/>
          </a:prstGeom>
          <a:solidFill>
            <a:srgbClr val="DB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2B8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56032"/>
            <a:ext cx="50292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900" b="1">
                <a:solidFill>
                  <a:srgbClr val="42B8A4"/>
                </a:solidFill>
                <a:latin typeface="Microsoft YaHei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64592"/>
            <a:ext cx="9966960" cy="4206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900" b="1">
                <a:solidFill>
                  <a:srgbClr val="153754"/>
                </a:solidFill>
                <a:latin typeface="Microsoft YaHei"/>
              </a:rPr>
              <a:t>活动目标：五类目标形成公益服务闭环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621792"/>
            <a:ext cx="978408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80" b="0">
                <a:solidFill>
                  <a:srgbClr val="586878"/>
                </a:solidFill>
                <a:latin typeface="Microsoft YaHei"/>
              </a:rPr>
              <a:t>目标不是单纯到场人数，而是让公益服务、品牌形象、传播曝光和后续健康管理入口同时建立。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378440" y="256032"/>
            <a:ext cx="1325880" cy="274320"/>
          </a:xfrm>
          <a:prstGeom prst="roundRect">
            <a:avLst/>
          </a:prstGeom>
          <a:solidFill>
            <a:srgbClr val="E4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15015" y="297180"/>
            <a:ext cx="1252728" cy="237744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750" b="1">
                <a:solidFill>
                  <a:srgbClr val="42B8A4"/>
                </a:solidFill>
                <a:latin typeface="Microsoft YaHei"/>
              </a:rPr>
              <a:t>目标</a:t>
            </a:r>
          </a:p>
        </p:txBody>
      </p:sp>
      <p:pic>
        <p:nvPicPr>
          <p:cNvPr id="9" name="Picture 8" descr="metrics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6768" y="658368"/>
            <a:ext cx="621792" cy="393192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85800" y="1234440"/>
            <a:ext cx="3310128" cy="122529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234440"/>
            <a:ext cx="73152" cy="1225296"/>
          </a:xfrm>
          <a:prstGeom prst="rect">
            <a:avLst/>
          </a:prstGeom>
          <a:solidFill>
            <a:srgbClr val="2B7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1344168"/>
            <a:ext cx="301752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19" b="1">
                <a:solidFill>
                  <a:srgbClr val="2B7FC6"/>
                </a:solidFill>
                <a:latin typeface="Microsoft YaHei"/>
              </a:rPr>
              <a:t>品牌目标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1673352"/>
            <a:ext cx="301752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30" b="0">
                <a:solidFill>
                  <a:srgbClr val="586878"/>
                </a:solidFill>
                <a:latin typeface="Microsoft YaHei"/>
              </a:rPr>
              <a:t>让市民通过真实服务感知医院护理团队的专业、耐心与温度，形成对医院公益形象的正向记忆。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1234440"/>
            <a:ext cx="3310128" cy="122529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89120" y="1234440"/>
            <a:ext cx="73152" cy="1225296"/>
          </a:xfrm>
          <a:prstGeom prst="rect">
            <a:avLst/>
          </a:prstGeom>
          <a:solidFill>
            <a:srgbClr val="42B8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53712" y="1344168"/>
            <a:ext cx="301752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19" b="1">
                <a:solidFill>
                  <a:srgbClr val="42B8A4"/>
                </a:solidFill>
                <a:latin typeface="Microsoft YaHei"/>
              </a:rPr>
              <a:t>公益目标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53712" y="1673352"/>
            <a:ext cx="301752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30" b="0">
                <a:solidFill>
                  <a:srgbClr val="586878"/>
                </a:solidFill>
                <a:latin typeface="Microsoft YaHei"/>
              </a:rPr>
              <a:t>为到场市民提供基础检测与初步健康建议，帮助其理解定期体检和基础指标监测的重要性。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2440" y="1234440"/>
            <a:ext cx="3310128" cy="122529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92440" y="1234440"/>
            <a:ext cx="73152" cy="1225296"/>
          </a:xfrm>
          <a:prstGeom prst="rect">
            <a:avLst/>
          </a:prstGeom>
          <a:solidFill>
            <a:srgbClr val="6FBE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57031" y="1344168"/>
            <a:ext cx="301752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19" b="1">
                <a:solidFill>
                  <a:srgbClr val="6FBE7B"/>
                </a:solidFill>
                <a:latin typeface="Microsoft YaHei"/>
              </a:rPr>
              <a:t>传播目标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57031" y="1673352"/>
            <a:ext cx="301752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30" b="0">
                <a:solidFill>
                  <a:srgbClr val="586878"/>
                </a:solidFill>
                <a:latin typeface="Microsoft YaHei"/>
              </a:rPr>
              <a:t>设计可拍、可说、可转发的现场内容，让活动不止停留在现场，而能进入朋友圈和社区群。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2807208"/>
            <a:ext cx="3310128" cy="122529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5800" y="2807208"/>
            <a:ext cx="73152" cy="1225296"/>
          </a:xfrm>
          <a:prstGeom prst="rect">
            <a:avLst/>
          </a:prstGeom>
          <a:solidFill>
            <a:srgbClr val="F49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0392" y="2916936"/>
            <a:ext cx="301752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19" b="1">
                <a:solidFill>
                  <a:srgbClr val="F49752"/>
                </a:solidFill>
                <a:latin typeface="Microsoft YaHei"/>
              </a:rPr>
              <a:t>转化目标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" y="3246120"/>
            <a:ext cx="301752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30" b="0">
                <a:solidFill>
                  <a:srgbClr val="586878"/>
                </a:solidFill>
                <a:latin typeface="Microsoft YaHei"/>
              </a:rPr>
              <a:t>在不商业化打扰的前提下，引导市民了解体检中心、慢病管理、护理门诊和社区服务。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89120" y="2807208"/>
            <a:ext cx="3310128" cy="122529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89120" y="2807208"/>
            <a:ext cx="73152" cy="1225296"/>
          </a:xfrm>
          <a:prstGeom prst="rect">
            <a:avLst/>
          </a:prstGeom>
          <a:solidFill>
            <a:srgbClr val="E766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53712" y="2916936"/>
            <a:ext cx="301752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19" b="1">
                <a:solidFill>
                  <a:srgbClr val="E76660"/>
                </a:solidFill>
                <a:latin typeface="Microsoft YaHei"/>
              </a:rPr>
              <a:t>服务目标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53712" y="3246120"/>
            <a:ext cx="301752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30" b="0">
                <a:solidFill>
                  <a:srgbClr val="586878"/>
                </a:solidFill>
                <a:latin typeface="Microsoft YaHei"/>
              </a:rPr>
              <a:t>通过清晰动线、人员分工和风险预案，保证老人、亲子和职场人都能顺畅参与。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9120" y="4480560"/>
            <a:ext cx="6903720" cy="932688"/>
          </a:xfrm>
          <a:prstGeom prst="roundRect">
            <a:avLst/>
          </a:prstGeom>
          <a:solidFill>
            <a:srgbClr val="E4F8F4"/>
          </a:solidFill>
          <a:ln w="10160">
            <a:solidFill>
              <a:srgbClr val="DB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389120" y="4480560"/>
            <a:ext cx="73152" cy="932688"/>
          </a:xfrm>
          <a:prstGeom prst="rect">
            <a:avLst/>
          </a:prstGeom>
          <a:solidFill>
            <a:srgbClr val="42B8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53712" y="4590288"/>
            <a:ext cx="661111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19" b="1">
                <a:solidFill>
                  <a:srgbClr val="42B8A4"/>
                </a:solidFill>
                <a:latin typeface="Microsoft YaHei"/>
              </a:rPr>
              <a:t>建议复盘指标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53712" y="4919472"/>
            <a:ext cx="6611112" cy="420623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60" b="0">
                <a:solidFill>
                  <a:srgbClr val="586878"/>
                </a:solidFill>
                <a:latin typeface="Microsoft YaHei"/>
              </a:rPr>
              <a:t>到场人数、检测人数、咨询人数、运动互动人数、打卡照片数量、扫码人数、公众号/朋友圈素材数量、满意度反馈和后续预约线索。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85800" y="5440680"/>
            <a:ext cx="1444752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4672" y="5522976"/>
            <a:ext cx="11430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500" b="1">
                <a:solidFill>
                  <a:srgbClr val="2B7FC6"/>
                </a:solidFill>
                <a:latin typeface="Microsoft YaHei"/>
              </a:rPr>
              <a:t>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8952" y="5824728"/>
            <a:ext cx="1298448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730" b="0">
                <a:solidFill>
                  <a:srgbClr val="586878"/>
                </a:solidFill>
                <a:latin typeface="Microsoft YaHei"/>
              </a:rPr>
              <a:t>一次健康检测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404872" y="5440680"/>
            <a:ext cx="1444752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523744" y="5522976"/>
            <a:ext cx="11430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500" b="1">
                <a:solidFill>
                  <a:srgbClr val="42B8A4"/>
                </a:solidFill>
                <a:latin typeface="Microsoft YaHei"/>
              </a:rPr>
              <a:t>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478024" y="5824728"/>
            <a:ext cx="1298448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730" b="0">
                <a:solidFill>
                  <a:srgbClr val="586878"/>
                </a:solidFill>
                <a:latin typeface="Microsoft YaHei"/>
              </a:rPr>
              <a:t>一次专业解释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123944" y="5440680"/>
            <a:ext cx="1444752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42816" y="5522976"/>
            <a:ext cx="11430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500" b="1">
                <a:solidFill>
                  <a:srgbClr val="6FBE7B"/>
                </a:solidFill>
                <a:latin typeface="Microsoft YaHei"/>
              </a:rPr>
              <a:t>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97096" y="5824728"/>
            <a:ext cx="1298448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730" b="0">
                <a:solidFill>
                  <a:srgbClr val="586878"/>
                </a:solidFill>
                <a:latin typeface="Microsoft YaHei"/>
              </a:rPr>
              <a:t>一个行动建议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843016" y="5440680"/>
            <a:ext cx="1444752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961888" y="5522976"/>
            <a:ext cx="11430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500" b="1">
                <a:solidFill>
                  <a:srgbClr val="F49752"/>
                </a:solidFill>
                <a:latin typeface="Microsoft YaHei"/>
              </a:rPr>
              <a:t>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16168" y="5824728"/>
            <a:ext cx="1298448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730" b="0">
                <a:solidFill>
                  <a:srgbClr val="586878"/>
                </a:solidFill>
                <a:latin typeface="Microsoft YaHei"/>
              </a:rPr>
              <a:t>一次主动分享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920" y="6510528"/>
            <a:ext cx="60350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660" b="0">
                <a:solidFill>
                  <a:srgbClr val="586878"/>
                </a:solidFill>
                <a:latin typeface="Microsoft YaHei"/>
              </a:rPr>
              <a:t>护士节公益健康活动方案｜活动策划 · 视觉设计 · 舞美搭建 · 设备执行一体化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675120" y="6565392"/>
            <a:ext cx="4983480" cy="18288"/>
          </a:xfrm>
          <a:prstGeom prst="rect">
            <a:avLst/>
          </a:prstGeom>
          <a:solidFill>
            <a:srgbClr val="DB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2B8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56032"/>
            <a:ext cx="50292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900" b="1">
                <a:solidFill>
                  <a:srgbClr val="42B8A4"/>
                </a:solidFill>
                <a:latin typeface="Microsoft YaHei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64592"/>
            <a:ext cx="9966960" cy="4206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900" b="1">
                <a:solidFill>
                  <a:srgbClr val="153754"/>
                </a:solidFill>
                <a:latin typeface="Microsoft YaHei"/>
              </a:rPr>
              <a:t>目标人群：按参与动机设计内容，而不是让所有人排同一条队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621792"/>
            <a:ext cx="978408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80" b="0">
                <a:solidFill>
                  <a:srgbClr val="586878"/>
                </a:solidFill>
                <a:latin typeface="Microsoft YaHei"/>
              </a:rPr>
              <a:t>不同人群对健康的关注点不同，现场应通过签到分流和内容推荐提高停留质量。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378440" y="256032"/>
            <a:ext cx="1325880" cy="274320"/>
          </a:xfrm>
          <a:prstGeom prst="roundRect">
            <a:avLst/>
          </a:prstGeom>
          <a:solidFill>
            <a:srgbClr val="E4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15015" y="297180"/>
            <a:ext cx="1252728" cy="237744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750" b="1">
                <a:solidFill>
                  <a:srgbClr val="42B8A4"/>
                </a:solidFill>
                <a:latin typeface="Microsoft YaHei"/>
              </a:rPr>
              <a:t>人群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170432"/>
            <a:ext cx="3337560" cy="1097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170432"/>
            <a:ext cx="73152" cy="1097280"/>
          </a:xfrm>
          <a:prstGeom prst="rect">
            <a:avLst/>
          </a:prstGeom>
          <a:solidFill>
            <a:srgbClr val="2B7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1280160"/>
            <a:ext cx="304495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19" b="1">
                <a:solidFill>
                  <a:srgbClr val="2B7FC6"/>
                </a:solidFill>
                <a:latin typeface="Microsoft YaHei"/>
              </a:rPr>
              <a:t>周边社区居民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1609344"/>
            <a:ext cx="3044952" cy="585215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40" b="0">
                <a:solidFill>
                  <a:srgbClr val="586878"/>
                </a:solidFill>
                <a:latin typeface="Microsoft YaHei"/>
              </a:rPr>
              <a:t>动机：家门口、低门槛、可信赖。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40" b="0">
                <a:solidFill>
                  <a:srgbClr val="586878"/>
                </a:solidFill>
                <a:latin typeface="Microsoft YaHei"/>
              </a:rPr>
              <a:t>匹配：基础体检、健康手册、医生咨询。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61688" y="1170432"/>
            <a:ext cx="3337560" cy="1097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61688" y="1170432"/>
            <a:ext cx="73152" cy="1097280"/>
          </a:xfrm>
          <a:prstGeom prst="rect">
            <a:avLst/>
          </a:prstGeom>
          <a:solidFill>
            <a:srgbClr val="42B8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79" y="1280160"/>
            <a:ext cx="304495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19" b="1">
                <a:solidFill>
                  <a:srgbClr val="42B8A4"/>
                </a:solidFill>
                <a:latin typeface="Microsoft YaHei"/>
              </a:rPr>
              <a:t>中老年群体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79" y="1609344"/>
            <a:ext cx="3044952" cy="585215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40" b="0">
                <a:solidFill>
                  <a:srgbClr val="586878"/>
                </a:solidFill>
                <a:latin typeface="Microsoft YaHei"/>
              </a:rPr>
              <a:t>动机：血压血糖、慢病风险、运动安全。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40" b="0">
                <a:solidFill>
                  <a:srgbClr val="586878"/>
                </a:solidFill>
                <a:latin typeface="Microsoft YaHei"/>
              </a:rPr>
              <a:t>匹配：慢病咨询、八段锦、用药护理提示。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65008" y="1170432"/>
            <a:ext cx="3337560" cy="1097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65008" y="1170432"/>
            <a:ext cx="73152" cy="1097280"/>
          </a:xfrm>
          <a:prstGeom prst="rect">
            <a:avLst/>
          </a:prstGeom>
          <a:solidFill>
            <a:srgbClr val="6FBE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280160"/>
            <a:ext cx="304495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19" b="1">
                <a:solidFill>
                  <a:srgbClr val="6FBE7B"/>
                </a:solidFill>
                <a:latin typeface="Microsoft YaHei"/>
              </a:rPr>
              <a:t>职场人群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1609344"/>
            <a:ext cx="3044952" cy="585215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40" b="0">
                <a:solidFill>
                  <a:srgbClr val="586878"/>
                </a:solidFill>
                <a:latin typeface="Microsoft YaHei"/>
              </a:rPr>
              <a:t>动机：亚健康、体态、压力、睡眠。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40" b="0">
                <a:solidFill>
                  <a:srgbClr val="586878"/>
                </a:solidFill>
                <a:latin typeface="Microsoft YaHei"/>
              </a:rPr>
              <a:t>匹配：BMI、心率、肩颈拉伸、体态评估。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2596896"/>
            <a:ext cx="3337560" cy="1097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2596896"/>
            <a:ext cx="73152" cy="1097280"/>
          </a:xfrm>
          <a:prstGeom prst="rect">
            <a:avLst/>
          </a:prstGeom>
          <a:solidFill>
            <a:srgbClr val="F49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59" y="2706624"/>
            <a:ext cx="304495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19" b="1">
                <a:solidFill>
                  <a:srgbClr val="F49752"/>
                </a:solidFill>
                <a:latin typeface="Microsoft YaHei"/>
              </a:rPr>
              <a:t>亲子家庭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59" y="3035808"/>
            <a:ext cx="3044952" cy="585215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40" b="0">
                <a:solidFill>
                  <a:srgbClr val="586878"/>
                </a:solidFill>
                <a:latin typeface="Microsoft YaHei"/>
              </a:rPr>
              <a:t>动机：家庭健康习惯和儿童健康认知。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40" b="0">
                <a:solidFill>
                  <a:srgbClr val="586878"/>
                </a:solidFill>
                <a:latin typeface="Microsoft YaHei"/>
              </a:rPr>
              <a:t>匹配：健康问答、饮食贴纸、亲子打卡。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61688" y="2596896"/>
            <a:ext cx="3337560" cy="1097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61688" y="2596896"/>
            <a:ext cx="73152" cy="1097280"/>
          </a:xfrm>
          <a:prstGeom prst="rect">
            <a:avLst/>
          </a:prstGeom>
          <a:solidFill>
            <a:srgbClr val="E766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26279" y="2706624"/>
            <a:ext cx="304495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19" b="1">
                <a:solidFill>
                  <a:srgbClr val="E76660"/>
                </a:solidFill>
                <a:latin typeface="Microsoft YaHei"/>
              </a:rPr>
              <a:t>运动关注者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26279" y="3035808"/>
            <a:ext cx="3044952" cy="585215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40" b="0">
                <a:solidFill>
                  <a:srgbClr val="586878"/>
                </a:solidFill>
                <a:latin typeface="Microsoft YaHei"/>
              </a:rPr>
              <a:t>动机：科学运动和身体管理。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40" b="0">
                <a:solidFill>
                  <a:srgbClr val="586878"/>
                </a:solidFill>
                <a:latin typeface="Microsoft YaHei"/>
              </a:rPr>
              <a:t>匹配：拉伸互动、健步走指导、运动康复建议。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19872" y="3968496"/>
            <a:ext cx="3035808" cy="16642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exercise_sce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4736" y="4023359"/>
            <a:ext cx="2926079" cy="1554480"/>
          </a:xfrm>
          <a:prstGeom prst="rect">
            <a:avLst/>
          </a:prstGeom>
        </p:spPr>
      </p:pic>
      <p:sp>
        <p:nvSpPr>
          <p:cNvPr id="31" name="Rounded Rectangle 30"/>
          <p:cNvSpPr/>
          <p:nvPr/>
        </p:nvSpPr>
        <p:spPr>
          <a:xfrm>
            <a:off x="658368" y="4407408"/>
            <a:ext cx="6995160" cy="1207008"/>
          </a:xfrm>
          <a:prstGeom prst="roundRect">
            <a:avLst/>
          </a:prstGeom>
          <a:solidFill>
            <a:srgbClr val="E4F8F4"/>
          </a:solidFill>
          <a:ln w="10160">
            <a:solidFill>
              <a:srgbClr val="DB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58368" y="4407408"/>
            <a:ext cx="73152" cy="1207008"/>
          </a:xfrm>
          <a:prstGeom prst="rect">
            <a:avLst/>
          </a:prstGeom>
          <a:solidFill>
            <a:srgbClr val="42B8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59" y="4517136"/>
            <a:ext cx="670255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19" b="1">
                <a:solidFill>
                  <a:srgbClr val="42B8A4"/>
                </a:solidFill>
                <a:latin typeface="Microsoft YaHei"/>
              </a:rPr>
              <a:t>现场分流建议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59" y="4846320"/>
            <a:ext cx="6702552" cy="6949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19" b="0">
                <a:solidFill>
                  <a:srgbClr val="586878"/>
                </a:solidFill>
                <a:latin typeface="Microsoft YaHei"/>
              </a:rPr>
              <a:t>签到区用不同颜色的参与卡快速识别需求：体检卡、慢病咨询卡、职场拉伸卡、亲子问答卡、运动打卡卡。志愿者按卡片推荐路线，避免体检区瞬时拥堵。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510528"/>
            <a:ext cx="60350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660" b="0">
                <a:solidFill>
                  <a:srgbClr val="586878"/>
                </a:solidFill>
                <a:latin typeface="Microsoft YaHei"/>
              </a:rPr>
              <a:t>护士节公益健康活动方案｜活动策划 · 视觉设计 · 舞美搭建 · 设备执行一体化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675120" y="6565392"/>
            <a:ext cx="4983480" cy="18288"/>
          </a:xfrm>
          <a:prstGeom prst="rect">
            <a:avLst/>
          </a:prstGeom>
          <a:solidFill>
            <a:srgbClr val="DB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2B8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56032"/>
            <a:ext cx="50292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900" b="1">
                <a:solidFill>
                  <a:srgbClr val="42B8A4"/>
                </a:solidFill>
                <a:latin typeface="Microsoft YaHei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64592"/>
            <a:ext cx="9966960" cy="4206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900" b="1">
                <a:solidFill>
                  <a:srgbClr val="153754"/>
                </a:solidFill>
                <a:latin typeface="Microsoft YaHei"/>
              </a:rPr>
              <a:t>主题创意：被守护的健康，守护者的节日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621792"/>
            <a:ext cx="978408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80" b="0">
                <a:solidFill>
                  <a:srgbClr val="586878"/>
                </a:solidFill>
                <a:latin typeface="Microsoft YaHei"/>
              </a:rPr>
              <a:t>主推主题兼具护士节情感、公益属性和市民参与感，适合医院公益健康活动传播。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378440" y="256032"/>
            <a:ext cx="1325880" cy="274320"/>
          </a:xfrm>
          <a:prstGeom prst="roundRect">
            <a:avLst/>
          </a:prstGeom>
          <a:solidFill>
            <a:srgbClr val="E4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15015" y="297180"/>
            <a:ext cx="1252728" cy="237744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750" b="1">
                <a:solidFill>
                  <a:srgbClr val="42B8A4"/>
                </a:solidFill>
                <a:latin typeface="Microsoft YaHei"/>
              </a:rPr>
              <a:t>主题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170432"/>
            <a:ext cx="4251960" cy="2743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tribute_sce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" y="1225296"/>
            <a:ext cx="4142232" cy="263347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285232" y="1225296"/>
            <a:ext cx="18288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1">
                <a:solidFill>
                  <a:srgbClr val="42B8A4"/>
                </a:solidFill>
                <a:latin typeface="Microsoft YaHei"/>
              </a:rPr>
              <a:t>主推活动主题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85232" y="1572768"/>
            <a:ext cx="5440680" cy="8961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90000"/>
              </a:lnSpc>
              <a:spcAft>
                <a:spcPts val="200"/>
              </a:spcAft>
            </a:pPr>
            <a:r>
              <a:rPr sz="2400" b="1">
                <a:solidFill>
                  <a:srgbClr val="153754"/>
                </a:solidFill>
                <a:latin typeface="Microsoft YaHei"/>
              </a:rPr>
              <a:t>致敬白衣天使</a:t>
            </a:r>
          </a:p>
          <a:p>
            <a:pPr algn="l">
              <a:lnSpc>
                <a:spcPct val="90000"/>
              </a:lnSpc>
              <a:spcAft>
                <a:spcPts val="200"/>
              </a:spcAft>
            </a:pPr>
            <a:r>
              <a:rPr sz="2400" b="1">
                <a:solidFill>
                  <a:srgbClr val="153754"/>
                </a:solidFill>
                <a:latin typeface="Microsoft YaHei"/>
              </a:rPr>
              <a:t>共赴健康生活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3520" y="2697480"/>
            <a:ext cx="5074920" cy="384048"/>
          </a:xfrm>
          <a:prstGeom prst="roundRect">
            <a:avLst/>
          </a:prstGeom>
          <a:solidFill>
            <a:srgbClr val="2B7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40096" y="2738628"/>
            <a:ext cx="5001768" cy="347472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Microsoft YaHei"/>
              </a:rPr>
              <a:t>传播口号：今天把掌声献给守护者，也把健康带回家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3246120"/>
            <a:ext cx="5394960" cy="8686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20" b="0">
                <a:solidFill>
                  <a:srgbClr val="586878"/>
                </a:solidFill>
                <a:latin typeface="Microsoft YaHei"/>
              </a:rPr>
              <a:t>主题释义：护士是健康守护链条中最温暖、最贴近患者的一环。护士节当天，医院把这份守护延伸到市民身边，用公益体检、专业咨询和健康生活互动，让“被守护的健康”变成可以参与、可以感受、可以分享的行动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736592"/>
            <a:ext cx="3337560" cy="841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85800" y="4736592"/>
            <a:ext cx="73152" cy="841248"/>
          </a:xfrm>
          <a:prstGeom prst="rect">
            <a:avLst/>
          </a:prstGeom>
          <a:solidFill>
            <a:srgbClr val="2B7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" y="4846320"/>
            <a:ext cx="304495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19" b="1">
                <a:solidFill>
                  <a:srgbClr val="2B7FC6"/>
                </a:solidFill>
                <a:latin typeface="Microsoft YaHei"/>
              </a:rPr>
              <a:t>守护在身边，健康向未来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5175504"/>
            <a:ext cx="3044952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00" b="0">
                <a:solidFill>
                  <a:srgbClr val="586878"/>
                </a:solidFill>
                <a:latin typeface="Microsoft YaHei"/>
              </a:rPr>
              <a:t>一场公益体检，开启一段健康陪伴。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0" y="4736592"/>
            <a:ext cx="3337560" cy="841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89120" y="4736592"/>
            <a:ext cx="73152" cy="841248"/>
          </a:xfrm>
          <a:prstGeom prst="rect">
            <a:avLst/>
          </a:prstGeom>
          <a:solidFill>
            <a:srgbClr val="6FBE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53712" y="4846320"/>
            <a:ext cx="304495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19" b="1">
                <a:solidFill>
                  <a:srgbClr val="6FBE7B"/>
                </a:solidFill>
                <a:latin typeface="Microsoft YaHei"/>
              </a:rPr>
              <a:t>天使守护日，市民健康行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53712" y="5175504"/>
            <a:ext cx="3044952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00" b="0">
                <a:solidFill>
                  <a:srgbClr val="586878"/>
                </a:solidFill>
                <a:latin typeface="Microsoft YaHei"/>
              </a:rPr>
              <a:t>走进公益健康现场，遇见更懂自己的健康。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92440" y="4736592"/>
            <a:ext cx="3337560" cy="841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92440" y="4736592"/>
            <a:ext cx="73152" cy="841248"/>
          </a:xfrm>
          <a:prstGeom prst="rect">
            <a:avLst/>
          </a:prstGeom>
          <a:solidFill>
            <a:srgbClr val="F49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57031" y="4846320"/>
            <a:ext cx="304495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19" b="1">
                <a:solidFill>
                  <a:srgbClr val="F49752"/>
                </a:solidFill>
                <a:latin typeface="Microsoft YaHei"/>
              </a:rPr>
              <a:t>以爱致敬，以健康同行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7031" y="5175504"/>
            <a:ext cx="3044952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00" b="0">
                <a:solidFill>
                  <a:srgbClr val="586878"/>
                </a:solidFill>
                <a:latin typeface="Microsoft YaHei"/>
              </a:rPr>
              <a:t>向护理团队致敬，与科学生活同行。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510528"/>
            <a:ext cx="60350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660" b="0">
                <a:solidFill>
                  <a:srgbClr val="586878"/>
                </a:solidFill>
                <a:latin typeface="Microsoft YaHei"/>
              </a:rPr>
              <a:t>护士节公益健康活动方案｜活动策划 · 视觉设计 · 舞美搭建 · 设备执行一体化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75120" y="6565392"/>
            <a:ext cx="4983480" cy="18288"/>
          </a:xfrm>
          <a:prstGeom prst="rect">
            <a:avLst/>
          </a:prstGeom>
          <a:solidFill>
            <a:srgbClr val="DB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2B8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56032"/>
            <a:ext cx="50292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900" b="1">
                <a:solidFill>
                  <a:srgbClr val="42B8A4"/>
                </a:solidFill>
                <a:latin typeface="Microsoft YaHei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64592"/>
            <a:ext cx="9966960" cy="4206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900" b="1">
                <a:solidFill>
                  <a:srgbClr val="153754"/>
                </a:solidFill>
                <a:latin typeface="Microsoft YaHei"/>
              </a:rPr>
              <a:t>活动亮点：让医院专业服务成为市民可感知的现场体验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621792"/>
            <a:ext cx="978408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80" b="0">
                <a:solidFill>
                  <a:srgbClr val="586878"/>
                </a:solidFill>
                <a:latin typeface="Microsoft YaHei"/>
              </a:rPr>
              <a:t>每个亮点都对应一个现场动作，既服务公益价值，也服务传播画面和后续连接。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378440" y="256032"/>
            <a:ext cx="1325880" cy="274320"/>
          </a:xfrm>
          <a:prstGeom prst="roundRect">
            <a:avLst/>
          </a:prstGeom>
          <a:solidFill>
            <a:srgbClr val="E4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15015" y="297180"/>
            <a:ext cx="1252728" cy="237744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750" b="1">
                <a:solidFill>
                  <a:srgbClr val="42B8A4"/>
                </a:solidFill>
                <a:latin typeface="Microsoft YaHei"/>
              </a:rPr>
              <a:t>亮点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170432"/>
            <a:ext cx="251460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170432"/>
            <a:ext cx="73152" cy="1143000"/>
          </a:xfrm>
          <a:prstGeom prst="rect">
            <a:avLst/>
          </a:prstGeom>
          <a:solidFill>
            <a:srgbClr val="2B7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1" y="1280160"/>
            <a:ext cx="222199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19" b="1">
                <a:solidFill>
                  <a:srgbClr val="2B7FC6"/>
                </a:solidFill>
                <a:latin typeface="Microsoft YaHei"/>
              </a:rPr>
              <a:t>护士节致敬仪式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1" y="1609344"/>
            <a:ext cx="2221992" cy="63093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770" b="0">
                <a:solidFill>
                  <a:srgbClr val="586878"/>
                </a:solidFill>
                <a:latin typeface="Microsoft YaHei"/>
              </a:rPr>
              <a:t>通过短片、鲜花、证书与公众祝福墙，正式表达对护理团队的尊重。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29000" y="1170432"/>
            <a:ext cx="251460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29000" y="1170432"/>
            <a:ext cx="73152" cy="1143000"/>
          </a:xfrm>
          <a:prstGeom prst="rect">
            <a:avLst/>
          </a:prstGeom>
          <a:solidFill>
            <a:srgbClr val="42B8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93592" y="1280160"/>
            <a:ext cx="222199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19" b="1">
                <a:solidFill>
                  <a:srgbClr val="42B8A4"/>
                </a:solidFill>
                <a:latin typeface="Microsoft YaHei"/>
              </a:rPr>
              <a:t>市民公益体检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93592" y="1609344"/>
            <a:ext cx="2221992" cy="63093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770" b="0">
                <a:solidFill>
                  <a:srgbClr val="586878"/>
                </a:solidFill>
                <a:latin typeface="Microsoft YaHei"/>
              </a:rPr>
              <a:t>开放血压、血糖、BMI、心率等基础检测，让市民即时参与。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1170432"/>
            <a:ext cx="251460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1170432"/>
            <a:ext cx="73152" cy="1143000"/>
          </a:xfrm>
          <a:prstGeom prst="rect">
            <a:avLst/>
          </a:prstGeom>
          <a:solidFill>
            <a:srgbClr val="6FBE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82512" y="1280160"/>
            <a:ext cx="222199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19" b="1">
                <a:solidFill>
                  <a:srgbClr val="6FBE7B"/>
                </a:solidFill>
                <a:latin typeface="Microsoft YaHei"/>
              </a:rPr>
              <a:t>专业健康咨询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2512" y="1609344"/>
            <a:ext cx="2221992" cy="63093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770" b="0">
                <a:solidFill>
                  <a:srgbClr val="586878"/>
                </a:solidFill>
                <a:latin typeface="Microsoft YaHei"/>
              </a:rPr>
              <a:t>医生、护士面对面解释指标，提升医院专业可信度。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06839" y="1170432"/>
            <a:ext cx="251460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06839" y="1170432"/>
            <a:ext cx="73152" cy="1143000"/>
          </a:xfrm>
          <a:prstGeom prst="rect">
            <a:avLst/>
          </a:prstGeom>
          <a:solidFill>
            <a:srgbClr val="F49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71431" y="1280160"/>
            <a:ext cx="222199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19" b="1">
                <a:solidFill>
                  <a:srgbClr val="F49752"/>
                </a:solidFill>
                <a:latin typeface="Microsoft YaHei"/>
              </a:rPr>
              <a:t>运动健康互动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71431" y="1609344"/>
            <a:ext cx="2221992" cy="63093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770" b="0">
                <a:solidFill>
                  <a:srgbClr val="586878"/>
                </a:solidFill>
                <a:latin typeface="Microsoft YaHei"/>
              </a:rPr>
              <a:t>用拉伸、八段锦、健步走和体态评估让科学运动变成现场动作。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2670048"/>
            <a:ext cx="251460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" y="2670048"/>
            <a:ext cx="73152" cy="1143000"/>
          </a:xfrm>
          <a:prstGeom prst="rect">
            <a:avLst/>
          </a:prstGeom>
          <a:solidFill>
            <a:srgbClr val="E766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1" y="2779776"/>
            <a:ext cx="222199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19" b="1">
                <a:solidFill>
                  <a:srgbClr val="E76660"/>
                </a:solidFill>
                <a:latin typeface="Microsoft YaHei"/>
              </a:rPr>
              <a:t>健康生活打卡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1" y="3108960"/>
            <a:ext cx="2221992" cy="63093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770" b="0">
                <a:solidFill>
                  <a:srgbClr val="586878"/>
                </a:solidFill>
                <a:latin typeface="Microsoft YaHei"/>
              </a:rPr>
              <a:t>设置健康承诺卡和轻量挑战，鼓励市民把健康行动带回家。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29000" y="2670048"/>
            <a:ext cx="251460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429000" y="2670048"/>
            <a:ext cx="73152" cy="1143000"/>
          </a:xfrm>
          <a:prstGeom prst="rect">
            <a:avLst/>
          </a:prstGeom>
          <a:solidFill>
            <a:srgbClr val="56A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93592" y="2779776"/>
            <a:ext cx="222199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19" b="1">
                <a:solidFill>
                  <a:srgbClr val="56A0D6"/>
                </a:solidFill>
                <a:latin typeface="Microsoft YaHei"/>
              </a:rPr>
              <a:t>朋友圈传播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93592" y="3108960"/>
            <a:ext cx="2221992" cy="63093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770" b="0">
                <a:solidFill>
                  <a:srgbClr val="586878"/>
                </a:solidFill>
                <a:latin typeface="Microsoft YaHei"/>
              </a:rPr>
              <a:t>打卡墙、手举牌和亲和文案，让真实参与自然进入社交平台。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17920" y="2670048"/>
            <a:ext cx="251460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17920" y="2670048"/>
            <a:ext cx="73152" cy="1143000"/>
          </a:xfrm>
          <a:prstGeom prst="rect">
            <a:avLst/>
          </a:prstGeom>
          <a:solidFill>
            <a:srgbClr val="42B8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82512" y="2779776"/>
            <a:ext cx="222199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19" b="1">
                <a:solidFill>
                  <a:srgbClr val="42B8A4"/>
                </a:solidFill>
                <a:latin typeface="Microsoft YaHei"/>
              </a:rPr>
              <a:t>医院服务展示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82512" y="3108960"/>
            <a:ext cx="2221992" cy="63093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770" b="0">
                <a:solidFill>
                  <a:srgbClr val="586878"/>
                </a:solidFill>
                <a:latin typeface="Microsoft YaHei"/>
              </a:rPr>
              <a:t>以公益方式展示体检、慢病管理、护理门诊和社区服务能力。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" y="4462272"/>
            <a:ext cx="3063240" cy="15544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checkup_sce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4517136"/>
            <a:ext cx="2953512" cy="1444752"/>
          </a:xfrm>
          <a:prstGeom prst="rect">
            <a:avLst/>
          </a:prstGeom>
        </p:spPr>
      </p:pic>
      <p:sp>
        <p:nvSpPr>
          <p:cNvPr id="39" name="Rounded Rectangle 38"/>
          <p:cNvSpPr/>
          <p:nvPr/>
        </p:nvSpPr>
        <p:spPr>
          <a:xfrm>
            <a:off x="3931920" y="4462272"/>
            <a:ext cx="3063240" cy="15544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exercise_sce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6783" y="4517136"/>
            <a:ext cx="2953512" cy="1444752"/>
          </a:xfrm>
          <a:prstGeom prst="rect">
            <a:avLst/>
          </a:prstGeom>
        </p:spPr>
      </p:pic>
      <p:sp>
        <p:nvSpPr>
          <p:cNvPr id="41" name="Rounded Rectangle 40"/>
          <p:cNvSpPr/>
          <p:nvPr/>
        </p:nvSpPr>
        <p:spPr>
          <a:xfrm>
            <a:off x="7360920" y="4462272"/>
            <a:ext cx="1856231" cy="15544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social_pho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5784" y="4517136"/>
            <a:ext cx="1746503" cy="1444752"/>
          </a:xfrm>
          <a:prstGeom prst="rect">
            <a:avLst/>
          </a:prstGeom>
        </p:spPr>
      </p:pic>
      <p:sp>
        <p:nvSpPr>
          <p:cNvPr id="43" name="Rounded Rectangle 42"/>
          <p:cNvSpPr/>
          <p:nvPr/>
        </p:nvSpPr>
        <p:spPr>
          <a:xfrm>
            <a:off x="9464040" y="4462272"/>
            <a:ext cx="1901952" cy="1554480"/>
          </a:xfrm>
          <a:prstGeom prst="roundRect">
            <a:avLst/>
          </a:prstGeom>
          <a:solidFill>
            <a:srgbClr val="E4F8F4"/>
          </a:solidFill>
          <a:ln w="10160">
            <a:solidFill>
              <a:srgbClr val="DB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464040" y="4462272"/>
            <a:ext cx="73152" cy="1554480"/>
          </a:xfrm>
          <a:prstGeom prst="rect">
            <a:avLst/>
          </a:prstGeom>
          <a:solidFill>
            <a:srgbClr val="2B7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628632" y="4572000"/>
            <a:ext cx="1609344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19" b="1">
                <a:solidFill>
                  <a:srgbClr val="2B7FC6"/>
                </a:solidFill>
                <a:latin typeface="Microsoft YaHei"/>
              </a:rPr>
              <a:t>亮点落地提醒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28632" y="4901183"/>
            <a:ext cx="1609344" cy="1042415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760" b="0">
                <a:solidFill>
                  <a:srgbClr val="586878"/>
                </a:solidFill>
                <a:latin typeface="Microsoft YaHei"/>
              </a:rPr>
              <a:t>所有亮点都需要明确负责人、物料和完成标准：仪式有流程单，体检有排队规则，互动有安全提示，传播有指定拍摄点。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2920" y="6510528"/>
            <a:ext cx="60350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660" b="0">
                <a:solidFill>
                  <a:srgbClr val="586878"/>
                </a:solidFill>
                <a:latin typeface="Microsoft YaHei"/>
              </a:rPr>
              <a:t>护士节公益健康活动方案｜活动策划 · 视觉设计 · 舞美搭建 · 设备执行一体化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675120" y="6565392"/>
            <a:ext cx="4983480" cy="18288"/>
          </a:xfrm>
          <a:prstGeom prst="rect">
            <a:avLst/>
          </a:prstGeom>
          <a:solidFill>
            <a:srgbClr val="DB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2B8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56032"/>
            <a:ext cx="50292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900" b="1">
                <a:solidFill>
                  <a:srgbClr val="42B8A4"/>
                </a:solidFill>
                <a:latin typeface="Microsoft YaHei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64592"/>
            <a:ext cx="9966960" cy="4206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900" b="1">
                <a:solidFill>
                  <a:srgbClr val="153754"/>
                </a:solidFill>
                <a:latin typeface="Microsoft YaHei"/>
              </a:rPr>
              <a:t>整体活动架构：七大区域承接完整参与路径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621792"/>
            <a:ext cx="978408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80" b="0">
                <a:solidFill>
                  <a:srgbClr val="586878"/>
                </a:solidFill>
                <a:latin typeface="Microsoft YaHei"/>
              </a:rPr>
              <a:t>市民从签到进入，到体检、咨询、运动、科普、打卡和后续服务，形成连续体验。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378440" y="256032"/>
            <a:ext cx="1325880" cy="274320"/>
          </a:xfrm>
          <a:prstGeom prst="roundRect">
            <a:avLst/>
          </a:prstGeom>
          <a:solidFill>
            <a:srgbClr val="E4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15015" y="297180"/>
            <a:ext cx="1252728" cy="237744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750" b="1">
                <a:solidFill>
                  <a:srgbClr val="42B8A4"/>
                </a:solidFill>
                <a:latin typeface="Microsoft YaHei"/>
              </a:rPr>
              <a:t>架构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097280"/>
            <a:ext cx="5257800" cy="34015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venue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152144"/>
            <a:ext cx="5148072" cy="329184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172200" y="1133856"/>
            <a:ext cx="2377440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1133856"/>
            <a:ext cx="73152" cy="713232"/>
          </a:xfrm>
          <a:prstGeom prst="rect">
            <a:avLst/>
          </a:prstGeom>
          <a:solidFill>
            <a:srgbClr val="2B7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36792" y="1243584"/>
            <a:ext cx="208483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19" b="1">
                <a:solidFill>
                  <a:srgbClr val="2B7FC6"/>
                </a:solidFill>
                <a:latin typeface="Microsoft YaHei"/>
              </a:rPr>
              <a:t>仪式区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36792" y="1572768"/>
            <a:ext cx="2084832" cy="201167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690" b="0">
                <a:solidFill>
                  <a:srgbClr val="586878"/>
                </a:solidFill>
                <a:latin typeface="Microsoft YaHei"/>
              </a:rPr>
              <a:t>开场、领导致辞、护士代表分享、短片播放和集体合影。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23960" y="1133856"/>
            <a:ext cx="2377440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823960" y="1133856"/>
            <a:ext cx="73152" cy="713232"/>
          </a:xfrm>
          <a:prstGeom prst="rect">
            <a:avLst/>
          </a:prstGeom>
          <a:solidFill>
            <a:srgbClr val="42B8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88552" y="1243584"/>
            <a:ext cx="208483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19" b="1">
                <a:solidFill>
                  <a:srgbClr val="42B8A4"/>
                </a:solidFill>
                <a:latin typeface="Microsoft YaHei"/>
              </a:rPr>
              <a:t>公益体检区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88552" y="1572768"/>
            <a:ext cx="2084832" cy="201167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690" b="0">
                <a:solidFill>
                  <a:srgbClr val="586878"/>
                </a:solidFill>
                <a:latin typeface="Microsoft YaHei"/>
              </a:rPr>
              <a:t>信息登记、基础检测、结果记录和异常指标引导。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2084832"/>
            <a:ext cx="2377440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72200" y="2084832"/>
            <a:ext cx="73152" cy="713232"/>
          </a:xfrm>
          <a:prstGeom prst="rect">
            <a:avLst/>
          </a:prstGeom>
          <a:solidFill>
            <a:srgbClr val="6FBE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36792" y="2194560"/>
            <a:ext cx="208483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19" b="1">
                <a:solidFill>
                  <a:srgbClr val="6FBE7B"/>
                </a:solidFill>
                <a:latin typeface="Microsoft YaHei"/>
              </a:rPr>
              <a:t>健康咨询区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36792" y="2523744"/>
            <a:ext cx="2084832" cy="201167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690" b="0">
                <a:solidFill>
                  <a:srgbClr val="586878"/>
                </a:solidFill>
                <a:latin typeface="Microsoft YaHei"/>
              </a:rPr>
              <a:t>内科、护理、慢病、运动康复和营养生活方式咨询。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823960" y="2084832"/>
            <a:ext cx="2377440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823960" y="2084832"/>
            <a:ext cx="73152" cy="713232"/>
          </a:xfrm>
          <a:prstGeom prst="rect">
            <a:avLst/>
          </a:prstGeom>
          <a:solidFill>
            <a:srgbClr val="F49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88552" y="2194560"/>
            <a:ext cx="208483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19" b="1">
                <a:solidFill>
                  <a:srgbClr val="F49752"/>
                </a:solidFill>
                <a:latin typeface="Microsoft YaHei"/>
              </a:rPr>
              <a:t>运动互动区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88552" y="2523744"/>
            <a:ext cx="2084832" cy="201167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690" b="0">
                <a:solidFill>
                  <a:srgbClr val="586878"/>
                </a:solidFill>
                <a:latin typeface="Microsoft YaHei"/>
              </a:rPr>
              <a:t>拉伸教学、八段锦、健步走指导、体态评估和打卡挑战。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3035808"/>
            <a:ext cx="2377440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72200" y="3035808"/>
            <a:ext cx="73152" cy="713232"/>
          </a:xfrm>
          <a:prstGeom prst="rect">
            <a:avLst/>
          </a:prstGeom>
          <a:solidFill>
            <a:srgbClr val="2B7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36792" y="3145536"/>
            <a:ext cx="208483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19" b="1">
                <a:solidFill>
                  <a:srgbClr val="2B7FC6"/>
                </a:solidFill>
                <a:latin typeface="Microsoft YaHei"/>
              </a:rPr>
              <a:t>科普展示区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36792" y="3474720"/>
            <a:ext cx="2084832" cy="201167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690" b="0">
                <a:solidFill>
                  <a:srgbClr val="586878"/>
                </a:solidFill>
                <a:latin typeface="Microsoft YaHei"/>
              </a:rPr>
              <a:t>体检、运动、慢病、膳食、睡眠五类展板与资料领取。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823960" y="3035808"/>
            <a:ext cx="2377440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23960" y="3035808"/>
            <a:ext cx="73152" cy="713232"/>
          </a:xfrm>
          <a:prstGeom prst="rect">
            <a:avLst/>
          </a:prstGeom>
          <a:solidFill>
            <a:srgbClr val="42B8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988552" y="3145536"/>
            <a:ext cx="208483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19" b="1">
                <a:solidFill>
                  <a:srgbClr val="42B8A4"/>
                </a:solidFill>
                <a:latin typeface="Microsoft YaHei"/>
              </a:rPr>
              <a:t>拍照打卡区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88552" y="3474720"/>
            <a:ext cx="2084832" cy="201167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690" b="0">
                <a:solidFill>
                  <a:srgbClr val="586878"/>
                </a:solidFill>
                <a:latin typeface="Microsoft YaHei"/>
              </a:rPr>
              <a:t>护士节致敬墙、祝福墙、健康承诺卡和朋友圈手举牌。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72200" y="3986784"/>
            <a:ext cx="2377440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172200" y="3986784"/>
            <a:ext cx="73152" cy="713232"/>
          </a:xfrm>
          <a:prstGeom prst="rect">
            <a:avLst/>
          </a:prstGeom>
          <a:solidFill>
            <a:srgbClr val="6FBE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36792" y="4096512"/>
            <a:ext cx="208483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19" b="1">
                <a:solidFill>
                  <a:srgbClr val="6FBE7B"/>
                </a:solidFill>
                <a:latin typeface="Microsoft YaHei"/>
              </a:rPr>
              <a:t>报名转化区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36792" y="4425696"/>
            <a:ext cx="2084832" cy="201167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690" b="0">
                <a:solidFill>
                  <a:srgbClr val="586878"/>
                </a:solidFill>
                <a:latin typeface="Microsoft YaHei"/>
              </a:rPr>
              <a:t>后续体检、慢病管理、护理门诊和社区服务二维码咨询。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" y="4791456"/>
            <a:ext cx="10698480" cy="822960"/>
          </a:xfrm>
          <a:prstGeom prst="roundRect">
            <a:avLst/>
          </a:prstGeom>
          <a:solidFill>
            <a:srgbClr val="E4F8F4"/>
          </a:solidFill>
          <a:ln w="10160">
            <a:solidFill>
              <a:srgbClr val="DB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58368" y="4791456"/>
            <a:ext cx="73152" cy="822960"/>
          </a:xfrm>
          <a:prstGeom prst="rect">
            <a:avLst/>
          </a:prstGeom>
          <a:solidFill>
            <a:srgbClr val="42B8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2959" y="4901184"/>
            <a:ext cx="1040587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19" b="1">
                <a:solidFill>
                  <a:srgbClr val="42B8A4"/>
                </a:solidFill>
                <a:latin typeface="Microsoft YaHei"/>
              </a:rPr>
              <a:t>动线原则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59" y="5230368"/>
            <a:ext cx="10405872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40" b="0">
                <a:solidFill>
                  <a:srgbClr val="586878"/>
                </a:solidFill>
                <a:latin typeface="Microsoft YaHei"/>
              </a:rPr>
              <a:t>入口不堵门，体检区不压主通道，咨询区靠近体检出口但保留私密感，打卡区靠近离场路径，服务二维码放在市民体验完成之后。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6510528"/>
            <a:ext cx="60350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660" b="0">
                <a:solidFill>
                  <a:srgbClr val="586878"/>
                </a:solidFill>
                <a:latin typeface="Microsoft YaHei"/>
              </a:rPr>
              <a:t>护士节公益健康活动方案｜活动策划 · 视觉设计 · 舞美搭建 · 设备执行一体化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675120" y="6565392"/>
            <a:ext cx="4983480" cy="18288"/>
          </a:xfrm>
          <a:prstGeom prst="rect">
            <a:avLst/>
          </a:prstGeom>
          <a:solidFill>
            <a:srgbClr val="DB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2B8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56032"/>
            <a:ext cx="50292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900" b="1">
                <a:solidFill>
                  <a:srgbClr val="42B8A4"/>
                </a:solidFill>
                <a:latin typeface="Microsoft YaHei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64592"/>
            <a:ext cx="9966960" cy="4206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900" b="1">
                <a:solidFill>
                  <a:srgbClr val="153754"/>
                </a:solidFill>
                <a:latin typeface="Microsoft YaHei"/>
              </a:rPr>
              <a:t>半天流程规划：仪式短、体验足、咨询细、传播自然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621792"/>
            <a:ext cx="978408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80" b="0">
                <a:solidFill>
                  <a:srgbClr val="586878"/>
                </a:solidFill>
                <a:latin typeface="Microsoft YaHei"/>
              </a:rPr>
              <a:t>建议按 08:30-12:00 组织，保证仪式正式感，同时留出充足时间给公益体检与咨询。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378440" y="256032"/>
            <a:ext cx="1325880" cy="274320"/>
          </a:xfrm>
          <a:prstGeom prst="roundRect">
            <a:avLst/>
          </a:prstGeom>
          <a:solidFill>
            <a:srgbClr val="E4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15015" y="297180"/>
            <a:ext cx="1252728" cy="237744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750" b="1">
                <a:solidFill>
                  <a:srgbClr val="42B8A4"/>
                </a:solidFill>
                <a:latin typeface="Microsoft YaHei"/>
              </a:rPr>
              <a:t>流程</a:t>
            </a:r>
          </a:p>
        </p:txBody>
      </p:sp>
      <p:sp>
        <p:nvSpPr>
          <p:cNvPr id="9" name="Oval 8"/>
          <p:cNvSpPr/>
          <p:nvPr/>
        </p:nvSpPr>
        <p:spPr>
          <a:xfrm>
            <a:off x="1005840" y="1234440"/>
            <a:ext cx="420624" cy="420624"/>
          </a:xfrm>
          <a:prstGeom prst="ellipse">
            <a:avLst/>
          </a:prstGeom>
          <a:solidFill>
            <a:srgbClr val="2B7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307592"/>
            <a:ext cx="420624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819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1801368"/>
            <a:ext cx="987552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050" b="1">
                <a:solidFill>
                  <a:srgbClr val="2B7FC6"/>
                </a:solidFill>
                <a:latin typeface="Microsoft YaHei"/>
              </a:rPr>
              <a:t>08:30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" y="2075688"/>
            <a:ext cx="1115568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950" b="1">
                <a:solidFill>
                  <a:srgbClr val="153754"/>
                </a:solidFill>
                <a:latin typeface="Microsoft YaHei"/>
              </a:rPr>
              <a:t>签到入场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350008"/>
            <a:ext cx="1417320" cy="8686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720" b="0">
                <a:solidFill>
                  <a:srgbClr val="586878"/>
                </a:solidFill>
                <a:latin typeface="Microsoft YaHei"/>
              </a:rPr>
              <a:t>领取号码贴、体检流程卡与健康手册，志愿者按需求推荐路线。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1737360" y="1353312"/>
            <a:ext cx="438912" cy="164592"/>
          </a:xfrm>
          <a:prstGeom prst="rightArrow">
            <a:avLst/>
          </a:prstGeom>
          <a:solidFill>
            <a:srgbClr val="DB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633472" y="1234440"/>
            <a:ext cx="420624" cy="420624"/>
          </a:xfrm>
          <a:prstGeom prst="ellipse">
            <a:avLst/>
          </a:prstGeom>
          <a:solidFill>
            <a:srgbClr val="42B8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33472" y="1307592"/>
            <a:ext cx="420624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819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40864" y="1801368"/>
            <a:ext cx="987552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050" b="1">
                <a:solidFill>
                  <a:srgbClr val="42B8A4"/>
                </a:solidFill>
                <a:latin typeface="Microsoft YaHei"/>
              </a:rPr>
              <a:t>09:00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76856" y="2075688"/>
            <a:ext cx="1115568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950" b="1">
                <a:solidFill>
                  <a:srgbClr val="153754"/>
                </a:solidFill>
                <a:latin typeface="Microsoft YaHei"/>
              </a:rPr>
              <a:t>主持开场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76272" y="2350008"/>
            <a:ext cx="1417320" cy="8686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720" b="0">
                <a:solidFill>
                  <a:srgbClr val="586878"/>
                </a:solidFill>
                <a:latin typeface="Microsoft YaHei"/>
              </a:rPr>
              <a:t>介绍护士节意义、公益属性、现场规则和老人优先安排。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3364992" y="1353312"/>
            <a:ext cx="438912" cy="164592"/>
          </a:xfrm>
          <a:prstGeom prst="rightArrow">
            <a:avLst/>
          </a:prstGeom>
          <a:solidFill>
            <a:srgbClr val="DB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261104" y="1234440"/>
            <a:ext cx="420624" cy="420624"/>
          </a:xfrm>
          <a:prstGeom prst="ellipse">
            <a:avLst/>
          </a:prstGeom>
          <a:solidFill>
            <a:srgbClr val="6FBE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61104" y="1307592"/>
            <a:ext cx="420624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819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68496" y="1801368"/>
            <a:ext cx="987552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050" b="1">
                <a:solidFill>
                  <a:srgbClr val="6FBE7B"/>
                </a:solidFill>
                <a:latin typeface="Microsoft YaHei"/>
              </a:rPr>
              <a:t>09:10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04487" y="2075688"/>
            <a:ext cx="1115568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950" b="1">
                <a:solidFill>
                  <a:srgbClr val="153754"/>
                </a:solidFill>
                <a:latin typeface="Microsoft YaHei"/>
              </a:rPr>
              <a:t>护士致敬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03904" y="2350008"/>
            <a:ext cx="1417320" cy="8686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720" b="0">
                <a:solidFill>
                  <a:srgbClr val="586878"/>
                </a:solidFill>
                <a:latin typeface="Microsoft YaHei"/>
              </a:rPr>
              <a:t>领导致辞、护士代表分享、致敬短片、献花证书和合影。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4992624" y="1353312"/>
            <a:ext cx="438912" cy="164592"/>
          </a:xfrm>
          <a:prstGeom prst="rightArrow">
            <a:avLst/>
          </a:prstGeom>
          <a:solidFill>
            <a:srgbClr val="DB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888736" y="1234440"/>
            <a:ext cx="420624" cy="420624"/>
          </a:xfrm>
          <a:prstGeom prst="ellipse">
            <a:avLst/>
          </a:prstGeom>
          <a:solidFill>
            <a:srgbClr val="F49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888736" y="1307592"/>
            <a:ext cx="420624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819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96128" y="1801368"/>
            <a:ext cx="987552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050" b="1">
                <a:solidFill>
                  <a:srgbClr val="F49752"/>
                </a:solidFill>
                <a:latin typeface="Microsoft YaHei"/>
              </a:rPr>
              <a:t>09:30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32120" y="2075688"/>
            <a:ext cx="1115568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950" b="1">
                <a:solidFill>
                  <a:srgbClr val="153754"/>
                </a:solidFill>
                <a:latin typeface="Microsoft YaHei"/>
              </a:rPr>
              <a:t>体检咨询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31536" y="2350008"/>
            <a:ext cx="1417320" cy="8686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720" b="0">
                <a:solidFill>
                  <a:srgbClr val="586878"/>
                </a:solidFill>
                <a:latin typeface="Microsoft YaHei"/>
              </a:rPr>
              <a:t>分批进行血压、血糖、BMI、心率、问诊和指标解读。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6620256" y="1353312"/>
            <a:ext cx="438912" cy="164592"/>
          </a:xfrm>
          <a:prstGeom prst="rightArrow">
            <a:avLst/>
          </a:prstGeom>
          <a:solidFill>
            <a:srgbClr val="DB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516368" y="1234440"/>
            <a:ext cx="420624" cy="420624"/>
          </a:xfrm>
          <a:prstGeom prst="ellipse">
            <a:avLst/>
          </a:prstGeom>
          <a:solidFill>
            <a:srgbClr val="E766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516368" y="1307592"/>
            <a:ext cx="420624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819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23760" y="1801368"/>
            <a:ext cx="987552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050" b="1">
                <a:solidFill>
                  <a:srgbClr val="E76660"/>
                </a:solidFill>
                <a:latin typeface="Microsoft YaHei"/>
              </a:rPr>
              <a:t>10:40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59752" y="2075688"/>
            <a:ext cx="1115568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950" b="1">
                <a:solidFill>
                  <a:srgbClr val="153754"/>
                </a:solidFill>
                <a:latin typeface="Microsoft YaHei"/>
              </a:rPr>
              <a:t>健康讲座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59168" y="2350008"/>
            <a:ext cx="1417320" cy="8686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720" b="0">
                <a:solidFill>
                  <a:srgbClr val="586878"/>
                </a:solidFill>
                <a:latin typeface="Microsoft YaHei"/>
              </a:rPr>
              <a:t>用 20 分钟讲清定期体检、慢病预防或科学运动主题。</a:t>
            </a:r>
          </a:p>
        </p:txBody>
      </p:sp>
      <p:sp>
        <p:nvSpPr>
          <p:cNvPr id="38" name="Right Arrow 37"/>
          <p:cNvSpPr/>
          <p:nvPr/>
        </p:nvSpPr>
        <p:spPr>
          <a:xfrm>
            <a:off x="8247888" y="1353312"/>
            <a:ext cx="438912" cy="164592"/>
          </a:xfrm>
          <a:prstGeom prst="rightArrow">
            <a:avLst/>
          </a:prstGeom>
          <a:solidFill>
            <a:srgbClr val="DB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144000" y="1234440"/>
            <a:ext cx="420624" cy="420624"/>
          </a:xfrm>
          <a:prstGeom prst="ellipse">
            <a:avLst/>
          </a:prstGeom>
          <a:solidFill>
            <a:srgbClr val="56A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0" y="1307592"/>
            <a:ext cx="420624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819" b="1">
                <a:solidFill>
                  <a:srgbClr val="FFFFFF"/>
                </a:solidFill>
                <a:latin typeface="Microsoft YaHei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851392" y="1801368"/>
            <a:ext cx="987552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050" b="1">
                <a:solidFill>
                  <a:srgbClr val="56A0D6"/>
                </a:solidFill>
                <a:latin typeface="Microsoft YaHei"/>
              </a:rPr>
              <a:t>11:10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87384" y="2075688"/>
            <a:ext cx="1115568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950" b="1">
                <a:solidFill>
                  <a:srgbClr val="153754"/>
                </a:solidFill>
                <a:latin typeface="Microsoft YaHei"/>
              </a:rPr>
              <a:t>运动互动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6800" y="2350008"/>
            <a:ext cx="1417320" cy="8686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720" b="0">
                <a:solidFill>
                  <a:srgbClr val="586878"/>
                </a:solidFill>
                <a:latin typeface="Microsoft YaHei"/>
              </a:rPr>
              <a:t>开展拉伸教学、八段锦、体态评估和健康打卡挑战。</a:t>
            </a:r>
          </a:p>
        </p:txBody>
      </p:sp>
      <p:sp>
        <p:nvSpPr>
          <p:cNvPr id="44" name="Right Arrow 43"/>
          <p:cNvSpPr/>
          <p:nvPr/>
        </p:nvSpPr>
        <p:spPr>
          <a:xfrm>
            <a:off x="9875520" y="1353312"/>
            <a:ext cx="438912" cy="164592"/>
          </a:xfrm>
          <a:prstGeom prst="rightArrow">
            <a:avLst/>
          </a:prstGeom>
          <a:solidFill>
            <a:srgbClr val="DB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0771632" y="1234440"/>
            <a:ext cx="420624" cy="420624"/>
          </a:xfrm>
          <a:prstGeom prst="ellipse">
            <a:avLst/>
          </a:prstGeom>
          <a:solidFill>
            <a:srgbClr val="42B8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771632" y="1307592"/>
            <a:ext cx="420624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819" b="1">
                <a:solidFill>
                  <a:srgbClr val="FFFFFF"/>
                </a:solidFill>
                <a:latin typeface="Microsoft YaHei"/>
              </a:rPr>
              <a:t>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479024" y="1801368"/>
            <a:ext cx="987552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050" b="1">
                <a:solidFill>
                  <a:srgbClr val="42B8A4"/>
                </a:solidFill>
                <a:latin typeface="Microsoft YaHei"/>
              </a:rPr>
              <a:t>11:40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415015" y="2075688"/>
            <a:ext cx="1115568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950" b="1">
                <a:solidFill>
                  <a:srgbClr val="153754"/>
                </a:solidFill>
                <a:latin typeface="Microsoft YaHei"/>
              </a:rPr>
              <a:t>合影离场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314432" y="2350008"/>
            <a:ext cx="1417320" cy="8686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720" b="0">
                <a:solidFill>
                  <a:srgbClr val="586878"/>
                </a:solidFill>
                <a:latin typeface="Microsoft YaHei"/>
              </a:rPr>
              <a:t>祝福墙合影、朋友圈打卡、扫码领取资料并引导后续服务。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13232" y="3840480"/>
            <a:ext cx="3337560" cy="1600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1" name="Picture 50" descr="tribute_sce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3895344"/>
            <a:ext cx="3227832" cy="1490472"/>
          </a:xfrm>
          <a:prstGeom prst="rect">
            <a:avLst/>
          </a:prstGeom>
        </p:spPr>
      </p:pic>
      <p:sp>
        <p:nvSpPr>
          <p:cNvPr id="52" name="Rounded Rectangle 51"/>
          <p:cNvSpPr/>
          <p:nvPr/>
        </p:nvSpPr>
        <p:spPr>
          <a:xfrm>
            <a:off x="4343400" y="3840480"/>
            <a:ext cx="3337560" cy="1600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3" name="Picture 52" descr="checkup_sce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8264" y="3895344"/>
            <a:ext cx="3227832" cy="1490472"/>
          </a:xfrm>
          <a:prstGeom prst="rect">
            <a:avLst/>
          </a:prstGeom>
        </p:spPr>
      </p:pic>
      <p:sp>
        <p:nvSpPr>
          <p:cNvPr id="54" name="Rounded Rectangle 53"/>
          <p:cNvSpPr/>
          <p:nvPr/>
        </p:nvSpPr>
        <p:spPr>
          <a:xfrm>
            <a:off x="7991856" y="3840480"/>
            <a:ext cx="3364992" cy="1600200"/>
          </a:xfrm>
          <a:prstGeom prst="roundRect">
            <a:avLst/>
          </a:prstGeom>
          <a:solidFill>
            <a:srgbClr val="E4F8F4"/>
          </a:solidFill>
          <a:ln w="10160">
            <a:solidFill>
              <a:srgbClr val="DB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991856" y="3840480"/>
            <a:ext cx="73152" cy="1600200"/>
          </a:xfrm>
          <a:prstGeom prst="rect">
            <a:avLst/>
          </a:prstGeom>
          <a:solidFill>
            <a:srgbClr val="2B7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156448" y="3950208"/>
            <a:ext cx="3072384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19" b="1">
                <a:solidFill>
                  <a:srgbClr val="2B7FC6"/>
                </a:solidFill>
                <a:latin typeface="Microsoft YaHei"/>
              </a:rPr>
              <a:t>流程控制点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156448" y="4279392"/>
            <a:ext cx="3072384" cy="108813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60" b="0">
                <a:solidFill>
                  <a:srgbClr val="586878"/>
                </a:solidFill>
                <a:latin typeface="Microsoft YaHei"/>
              </a:rPr>
              <a:t>09:30 后要快速分流，避免所有市民同时进入体检区。主持人需反复提醒排队顺序、空腹/餐后血糖差异、老人优先和检测隐私保护。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02920" y="6510528"/>
            <a:ext cx="60350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660" b="0">
                <a:solidFill>
                  <a:srgbClr val="586878"/>
                </a:solidFill>
                <a:latin typeface="Microsoft YaHei"/>
              </a:rPr>
              <a:t>护士节公益健康活动方案｜活动策划 · 视觉设计 · 舞美搭建 · 设备执行一体化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675120" y="6565392"/>
            <a:ext cx="4983480" cy="18288"/>
          </a:xfrm>
          <a:prstGeom prst="rect">
            <a:avLst/>
          </a:prstGeom>
          <a:solidFill>
            <a:srgbClr val="DB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2B8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56032"/>
            <a:ext cx="50292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900" b="1">
                <a:solidFill>
                  <a:srgbClr val="42B8A4"/>
                </a:solidFill>
                <a:latin typeface="Microsoft YaHei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64592"/>
            <a:ext cx="9966960" cy="4206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900" b="1">
                <a:solidFill>
                  <a:srgbClr val="153754"/>
                </a:solidFill>
                <a:latin typeface="Microsoft YaHei"/>
              </a:rPr>
              <a:t>现场区域规划：把排队、隐私、效率、传播和安全一起设计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621792"/>
            <a:ext cx="978408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80" b="0">
                <a:solidFill>
                  <a:srgbClr val="586878"/>
                </a:solidFill>
                <a:latin typeface="Microsoft YaHei"/>
              </a:rPr>
              <a:t>平面布局不是简单摆桌子，而是服务市民动线、医护效率和现场秩序。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378440" y="256032"/>
            <a:ext cx="1325880" cy="274320"/>
          </a:xfrm>
          <a:prstGeom prst="roundRect">
            <a:avLst/>
          </a:prstGeom>
          <a:solidFill>
            <a:srgbClr val="E4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15015" y="297180"/>
            <a:ext cx="1252728" cy="237744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750" b="1">
                <a:solidFill>
                  <a:srgbClr val="42B8A4"/>
                </a:solidFill>
                <a:latin typeface="Microsoft YaHei"/>
              </a:rPr>
              <a:t>现场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078992"/>
            <a:ext cx="4617720" cy="30723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venue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" y="1133856"/>
            <a:ext cx="4507992" cy="2962656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532120" y="1078992"/>
            <a:ext cx="2560320" cy="7498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532120" y="1078992"/>
            <a:ext cx="73152" cy="749808"/>
          </a:xfrm>
          <a:prstGeom prst="rect">
            <a:avLst/>
          </a:prstGeom>
          <a:solidFill>
            <a:srgbClr val="2B7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96712" y="1188719"/>
            <a:ext cx="226771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19" b="1">
                <a:solidFill>
                  <a:srgbClr val="2B7FC6"/>
                </a:solidFill>
                <a:latin typeface="Microsoft YaHei"/>
              </a:rPr>
              <a:t>排队效率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96712" y="1517904"/>
            <a:ext cx="2267712" cy="237743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730" b="0">
                <a:solidFill>
                  <a:srgbClr val="586878"/>
                </a:solidFill>
                <a:latin typeface="Microsoft YaHei"/>
              </a:rPr>
              <a:t>入口设置签到和号码贴，热门体检项目配置等候线、座椅和分流提示。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66760" y="1078992"/>
            <a:ext cx="2560320" cy="7498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078992"/>
            <a:ext cx="73152" cy="749808"/>
          </a:xfrm>
          <a:prstGeom prst="rect">
            <a:avLst/>
          </a:prstGeom>
          <a:solidFill>
            <a:srgbClr val="42B8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31352" y="1188719"/>
            <a:ext cx="226771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19" b="1">
                <a:solidFill>
                  <a:srgbClr val="42B8A4"/>
                </a:solidFill>
                <a:latin typeface="Microsoft YaHei"/>
              </a:rPr>
              <a:t>体检隐私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31352" y="1517904"/>
            <a:ext cx="2267712" cy="237743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730" b="0">
                <a:solidFill>
                  <a:srgbClr val="586878"/>
                </a:solidFill>
                <a:latin typeface="Microsoft YaHei"/>
              </a:rPr>
              <a:t>检测结果不公开播报，体检台与咨询台保持距离，必要时配置屏风。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532120" y="2066543"/>
            <a:ext cx="2560320" cy="7498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532120" y="2066543"/>
            <a:ext cx="73152" cy="749808"/>
          </a:xfrm>
          <a:prstGeom prst="rect">
            <a:avLst/>
          </a:prstGeom>
          <a:solidFill>
            <a:srgbClr val="6FBE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96712" y="2176272"/>
            <a:ext cx="226771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19" b="1">
                <a:solidFill>
                  <a:srgbClr val="6FBE7B"/>
                </a:solidFill>
                <a:latin typeface="Microsoft YaHei"/>
              </a:rPr>
              <a:t>咨询效率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96712" y="2505456"/>
            <a:ext cx="2267712" cy="237743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730" b="0">
                <a:solidFill>
                  <a:srgbClr val="586878"/>
                </a:solidFill>
                <a:latin typeface="Microsoft YaHei"/>
              </a:rPr>
              <a:t>咨询区紧邻体检出口，志愿者提前帮市民整理检测结果和问题。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366760" y="2066543"/>
            <a:ext cx="2560320" cy="7498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366760" y="2066543"/>
            <a:ext cx="73152" cy="749808"/>
          </a:xfrm>
          <a:prstGeom prst="rect">
            <a:avLst/>
          </a:prstGeom>
          <a:solidFill>
            <a:srgbClr val="F49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31352" y="2176272"/>
            <a:ext cx="226771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19" b="1">
                <a:solidFill>
                  <a:srgbClr val="F49752"/>
                </a:solidFill>
                <a:latin typeface="Microsoft YaHei"/>
              </a:rPr>
              <a:t>拍照传播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31352" y="2505456"/>
            <a:ext cx="2267712" cy="237743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730" b="0">
                <a:solidFill>
                  <a:srgbClr val="586878"/>
                </a:solidFill>
                <a:latin typeface="Microsoft YaHei"/>
              </a:rPr>
              <a:t>打卡区靠近出口，完成体验后自然进入合影和朋友圈分享环节。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532120" y="3054096"/>
            <a:ext cx="2560320" cy="7498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532120" y="3054096"/>
            <a:ext cx="73152" cy="749808"/>
          </a:xfrm>
          <a:prstGeom prst="rect">
            <a:avLst/>
          </a:prstGeom>
          <a:solidFill>
            <a:srgbClr val="E766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96712" y="3163824"/>
            <a:ext cx="226771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19" b="1">
                <a:solidFill>
                  <a:srgbClr val="E76660"/>
                </a:solidFill>
                <a:latin typeface="Microsoft YaHei"/>
              </a:rPr>
              <a:t>安全秩序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96712" y="3493008"/>
            <a:ext cx="2267712" cy="237743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730" b="0">
                <a:solidFill>
                  <a:srgbClr val="586878"/>
                </a:solidFill>
                <a:latin typeface="Microsoft YaHei"/>
              </a:rPr>
              <a:t>消防通道不摆物料，线缆入线槽，运动区设置防滑垫和安全距离。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4360" y="4572000"/>
            <a:ext cx="10744200" cy="868680"/>
          </a:xfrm>
          <a:prstGeom prst="roundRect">
            <a:avLst/>
          </a:prstGeom>
          <a:solidFill>
            <a:srgbClr val="E4F8F4"/>
          </a:solidFill>
          <a:ln w="10160">
            <a:solidFill>
              <a:srgbClr val="DB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94360" y="4572000"/>
            <a:ext cx="73152" cy="868680"/>
          </a:xfrm>
          <a:prstGeom prst="rect">
            <a:avLst/>
          </a:prstGeom>
          <a:solidFill>
            <a:srgbClr val="42B8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8952" y="4681728"/>
            <a:ext cx="1045159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19" b="1">
                <a:solidFill>
                  <a:srgbClr val="42B8A4"/>
                </a:solidFill>
                <a:latin typeface="Microsoft YaHei"/>
              </a:rPr>
              <a:t>进场前确认清单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8952" y="5010912"/>
            <a:ext cx="10451592" cy="356615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40" b="0">
                <a:solidFill>
                  <a:srgbClr val="586878"/>
                </a:solidFill>
                <a:latin typeface="Microsoft YaHei"/>
              </a:rPr>
              <a:t>承办方需提前测量场地尺寸、电源点位、消防通道、主入口、媒体机位和雨天备选位置；最终点位图需经医院场地、安保和医护负责人共同确认。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510528"/>
            <a:ext cx="60350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660" b="0">
                <a:solidFill>
                  <a:srgbClr val="586878"/>
                </a:solidFill>
                <a:latin typeface="Microsoft YaHei"/>
              </a:rPr>
              <a:t>护士节公益健康活动方案｜活动策划 · 视觉设计 · 舞美搭建 · 设备执行一体化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675120" y="6565392"/>
            <a:ext cx="4983480" cy="18288"/>
          </a:xfrm>
          <a:prstGeom prst="rect">
            <a:avLst/>
          </a:prstGeom>
          <a:solidFill>
            <a:srgbClr val="DB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2B8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56032"/>
            <a:ext cx="50292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900" b="1">
                <a:solidFill>
                  <a:srgbClr val="42B8A4"/>
                </a:solidFill>
                <a:latin typeface="Microsoft YaHei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64592"/>
            <a:ext cx="9966960" cy="4206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900" b="1">
                <a:solidFill>
                  <a:srgbClr val="153754"/>
                </a:solidFill>
                <a:latin typeface="Microsoft YaHei"/>
              </a:rPr>
              <a:t>公益体检区：让市民测得到、看得懂、问得清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621792"/>
            <a:ext cx="978408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80" b="0">
                <a:solidFill>
                  <a:srgbClr val="586878"/>
                </a:solidFill>
                <a:latin typeface="Microsoft YaHei"/>
              </a:rPr>
              <a:t>体检区不是简单测量数据，而是完成“检测结果 → 初步解释 → 咨询引导”的公益服务闭环。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378440" y="256032"/>
            <a:ext cx="1325880" cy="274320"/>
          </a:xfrm>
          <a:prstGeom prst="roundRect">
            <a:avLst/>
          </a:prstGeom>
          <a:solidFill>
            <a:srgbClr val="E4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15015" y="297180"/>
            <a:ext cx="1252728" cy="237744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750" b="1">
                <a:solidFill>
                  <a:srgbClr val="42B8A4"/>
                </a:solidFill>
                <a:latin typeface="Microsoft YaHei"/>
              </a:rPr>
              <a:t>体检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" y="1115568"/>
            <a:ext cx="4114800" cy="29443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heckup_sce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1170432"/>
            <a:ext cx="4005072" cy="283464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074920" y="1115568"/>
            <a:ext cx="2926080" cy="11704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74920" y="1115568"/>
            <a:ext cx="73152" cy="1170432"/>
          </a:xfrm>
          <a:prstGeom prst="rect">
            <a:avLst/>
          </a:prstGeom>
          <a:solidFill>
            <a:srgbClr val="2B7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39512" y="1225295"/>
            <a:ext cx="263347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19" b="1">
                <a:solidFill>
                  <a:srgbClr val="2B7FC6"/>
                </a:solidFill>
                <a:latin typeface="Microsoft YaHei"/>
              </a:rPr>
              <a:t>建议体检项目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39512" y="1554480"/>
            <a:ext cx="2633472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69" b="0">
                <a:solidFill>
                  <a:srgbClr val="586878"/>
                </a:solidFill>
                <a:latin typeface="Microsoft YaHei"/>
              </a:rPr>
              <a:t>血压测量、指尖血糖、身高体重与 BMI、静息心率、基础问诊、慢病风险初筛和护理健康建议。项目以医院医护最终确认的服务能力为准。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39327" y="1115568"/>
            <a:ext cx="2926080" cy="11704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39327" y="1115568"/>
            <a:ext cx="73152" cy="1170432"/>
          </a:xfrm>
          <a:prstGeom prst="rect">
            <a:avLst/>
          </a:prstGeom>
          <a:solidFill>
            <a:srgbClr val="42B8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19" y="1225295"/>
            <a:ext cx="263347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19" b="1">
                <a:solidFill>
                  <a:srgbClr val="42B8A4"/>
                </a:solidFill>
                <a:latin typeface="Microsoft YaHei"/>
              </a:rPr>
              <a:t>市民体验流程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19" y="1554480"/>
            <a:ext cx="2633472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69" b="0">
                <a:solidFill>
                  <a:srgbClr val="586878"/>
                </a:solidFill>
                <a:latin typeface="Microsoft YaHei"/>
              </a:rPr>
              <a:t>登记领取号码贴 → 按号码进入检测 → 记录结果 → 护士初步说明 → 异常指标引导至医生咨询台或后续检查入口。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74920" y="2633472"/>
            <a:ext cx="2926080" cy="11704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74920" y="2633472"/>
            <a:ext cx="73152" cy="1170432"/>
          </a:xfrm>
          <a:prstGeom prst="rect">
            <a:avLst/>
          </a:prstGeom>
          <a:solidFill>
            <a:srgbClr val="6FBE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39512" y="2743200"/>
            <a:ext cx="263347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19" b="1">
                <a:solidFill>
                  <a:srgbClr val="6FBE7B"/>
                </a:solidFill>
                <a:latin typeface="Microsoft YaHei"/>
              </a:rPr>
              <a:t>桌台配置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39512" y="3072384"/>
            <a:ext cx="2633472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69" b="0">
                <a:solidFill>
                  <a:srgbClr val="586878"/>
                </a:solidFill>
                <a:latin typeface="Microsoft YaHei"/>
              </a:rPr>
              <a:t>每个项目设置独立桌牌、检测设备、一次性耗材、登记表、酒精棉片、手消用品、废弃物收纳和隐私提示牌。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339327" y="2633472"/>
            <a:ext cx="2926080" cy="11704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339327" y="2633472"/>
            <a:ext cx="73152" cy="1170432"/>
          </a:xfrm>
          <a:prstGeom prst="rect">
            <a:avLst/>
          </a:prstGeom>
          <a:solidFill>
            <a:srgbClr val="F49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03919" y="2743200"/>
            <a:ext cx="263347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19" b="1">
                <a:solidFill>
                  <a:srgbClr val="F49752"/>
                </a:solidFill>
                <a:latin typeface="Microsoft YaHei"/>
              </a:rPr>
              <a:t>秩序与隐私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19" y="3072384"/>
            <a:ext cx="2633472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69" b="0">
                <a:solidFill>
                  <a:srgbClr val="586878"/>
                </a:solidFill>
                <a:latin typeface="Microsoft YaHei"/>
              </a:rPr>
              <a:t>等候区设置座椅，老人和行动不便者优先。检测结果不公开播报，记录表由市民本人保管，异常情况由医护人员低声沟通。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" y="4617720"/>
            <a:ext cx="10652760" cy="822960"/>
          </a:xfrm>
          <a:prstGeom prst="roundRect">
            <a:avLst/>
          </a:prstGeom>
          <a:solidFill>
            <a:srgbClr val="E4F8F4"/>
          </a:solidFill>
          <a:ln w="10160">
            <a:solidFill>
              <a:srgbClr val="DB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1792" y="4617720"/>
            <a:ext cx="73152" cy="822960"/>
          </a:xfrm>
          <a:prstGeom prst="rect">
            <a:avLst/>
          </a:prstGeom>
          <a:solidFill>
            <a:srgbClr val="42B8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6384" y="4727448"/>
            <a:ext cx="1036015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19" b="1">
                <a:solidFill>
                  <a:srgbClr val="42B8A4"/>
                </a:solidFill>
                <a:latin typeface="Microsoft YaHei"/>
              </a:rPr>
              <a:t>执行边界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6384" y="5056631"/>
            <a:ext cx="10360152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19" b="0">
                <a:solidFill>
                  <a:srgbClr val="586878"/>
                </a:solidFill>
                <a:latin typeface="Microsoft YaHei"/>
              </a:rPr>
              <a:t>医疗检测和健康判断由医院医护人员主导；承办方负责动线、桌椅、排队、耗材补给、秩序维护、导视物料和信息流转，不替代医疗判断。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510528"/>
            <a:ext cx="60350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660" b="0">
                <a:solidFill>
                  <a:srgbClr val="586878"/>
                </a:solidFill>
                <a:latin typeface="Microsoft YaHei"/>
              </a:rPr>
              <a:t>护士节公益健康活动方案｜活动策划 · 视觉设计 · 舞美搭建 · 设备执行一体化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675120" y="6565392"/>
            <a:ext cx="4983480" cy="18288"/>
          </a:xfrm>
          <a:prstGeom prst="rect">
            <a:avLst/>
          </a:prstGeom>
          <a:solidFill>
            <a:srgbClr val="DB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2B8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56032"/>
            <a:ext cx="50292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900" b="1">
                <a:solidFill>
                  <a:srgbClr val="42B8A4"/>
                </a:solidFill>
                <a:latin typeface="Microsoft YaHei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64592"/>
            <a:ext cx="9966960" cy="4206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900" b="1">
                <a:solidFill>
                  <a:srgbClr val="153754"/>
                </a:solidFill>
                <a:latin typeface="Microsoft YaHei"/>
              </a:rPr>
              <a:t>健康咨询区：把专业服务讲得亲切、准确、可执行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621792"/>
            <a:ext cx="978408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80" b="0">
                <a:solidFill>
                  <a:srgbClr val="586878"/>
                </a:solidFill>
                <a:latin typeface="Microsoft YaHei"/>
              </a:rPr>
              <a:t>咨询区是医院专业度和公益服务温度的集中体现，要让市民带着问题来，带着建议走。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378440" y="256032"/>
            <a:ext cx="1325880" cy="274320"/>
          </a:xfrm>
          <a:prstGeom prst="roundRect">
            <a:avLst/>
          </a:prstGeom>
          <a:solidFill>
            <a:srgbClr val="E4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15015" y="297180"/>
            <a:ext cx="1252728" cy="237744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750" b="1">
                <a:solidFill>
                  <a:srgbClr val="42B8A4"/>
                </a:solidFill>
                <a:latin typeface="Microsoft YaHei"/>
              </a:rPr>
              <a:t>咨询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67728" y="1078992"/>
            <a:ext cx="4224528" cy="28346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onsultation_sce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2592" y="1133856"/>
            <a:ext cx="4114800" cy="2724912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58368" y="1097280"/>
            <a:ext cx="2788920" cy="7498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1097280"/>
            <a:ext cx="73152" cy="749808"/>
          </a:xfrm>
          <a:prstGeom prst="rect">
            <a:avLst/>
          </a:prstGeom>
          <a:solidFill>
            <a:srgbClr val="2B7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1207007"/>
            <a:ext cx="249631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19" b="1">
                <a:solidFill>
                  <a:srgbClr val="2B7FC6"/>
                </a:solidFill>
                <a:latin typeface="Microsoft YaHei"/>
              </a:rPr>
              <a:t>内科基础咨询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1536192"/>
            <a:ext cx="2496312" cy="237743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720" b="0">
                <a:solidFill>
                  <a:srgbClr val="586878"/>
                </a:solidFill>
                <a:latin typeface="Microsoft YaHei"/>
              </a:rPr>
              <a:t>解释血压、血糖、心率等基础指标，提示复查和就医路径。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49039" y="1097280"/>
            <a:ext cx="2788920" cy="7498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749039" y="1097280"/>
            <a:ext cx="73152" cy="749808"/>
          </a:xfrm>
          <a:prstGeom prst="rect">
            <a:avLst/>
          </a:prstGeom>
          <a:solidFill>
            <a:srgbClr val="42B8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13631" y="1207007"/>
            <a:ext cx="249631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19" b="1">
                <a:solidFill>
                  <a:srgbClr val="42B8A4"/>
                </a:solidFill>
                <a:latin typeface="Microsoft YaHei"/>
              </a:rPr>
              <a:t>护理健康指导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13631" y="1536192"/>
            <a:ext cx="2496312" cy="237743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720" b="0">
                <a:solidFill>
                  <a:srgbClr val="586878"/>
                </a:solidFill>
                <a:latin typeface="Microsoft YaHei"/>
              </a:rPr>
              <a:t>围绕居家护理、用药习惯、基础照护和健康观察给出建议。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2084832"/>
            <a:ext cx="2788920" cy="7498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" y="2084832"/>
            <a:ext cx="73152" cy="749808"/>
          </a:xfrm>
          <a:prstGeom prst="rect">
            <a:avLst/>
          </a:prstGeom>
          <a:solidFill>
            <a:srgbClr val="6FBE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59" y="2194560"/>
            <a:ext cx="249631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19" b="1">
                <a:solidFill>
                  <a:srgbClr val="6FBE7B"/>
                </a:solidFill>
                <a:latin typeface="Microsoft YaHei"/>
              </a:rPr>
              <a:t>慢病管理咨询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59" y="2523744"/>
            <a:ext cx="2496312" cy="237743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720" b="0">
                <a:solidFill>
                  <a:srgbClr val="586878"/>
                </a:solidFill>
                <a:latin typeface="Microsoft YaHei"/>
              </a:rPr>
              <a:t>面向高血压、糖尿病等风险人群，提供长期监测和管理提示。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749039" y="2084832"/>
            <a:ext cx="2788920" cy="7498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749039" y="2084832"/>
            <a:ext cx="73152" cy="749808"/>
          </a:xfrm>
          <a:prstGeom prst="rect">
            <a:avLst/>
          </a:prstGeom>
          <a:solidFill>
            <a:srgbClr val="F49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13631" y="2194560"/>
            <a:ext cx="249631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19" b="1">
                <a:solidFill>
                  <a:srgbClr val="F49752"/>
                </a:solidFill>
                <a:latin typeface="Microsoft YaHei"/>
              </a:rPr>
              <a:t>运动康复建议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13631" y="2523744"/>
            <a:ext cx="2496312" cy="237743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720" b="0">
                <a:solidFill>
                  <a:srgbClr val="586878"/>
                </a:solidFill>
                <a:latin typeface="Microsoft YaHei"/>
              </a:rPr>
              <a:t>针对久坐、肩颈腰背不适和运动安全，提供轻量动作建议。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3072384"/>
            <a:ext cx="2788920" cy="7498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3072384"/>
            <a:ext cx="73152" cy="749808"/>
          </a:xfrm>
          <a:prstGeom prst="rect">
            <a:avLst/>
          </a:prstGeom>
          <a:solidFill>
            <a:srgbClr val="E766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59" y="3182112"/>
            <a:ext cx="249631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19" b="1">
                <a:solidFill>
                  <a:srgbClr val="E76660"/>
                </a:solidFill>
                <a:latin typeface="Microsoft YaHei"/>
              </a:rPr>
              <a:t>营养生活方式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59" y="3511296"/>
            <a:ext cx="2496312" cy="237743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720" b="0">
                <a:solidFill>
                  <a:srgbClr val="586878"/>
                </a:solidFill>
                <a:latin typeface="Microsoft YaHei"/>
              </a:rPr>
              <a:t>围绕控盐控糖、饮食结构、睡眠压力和体重管理提出可执行行动。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4343400"/>
            <a:ext cx="5989320" cy="932688"/>
          </a:xfrm>
          <a:prstGeom prst="roundRect">
            <a:avLst/>
          </a:prstGeom>
          <a:solidFill>
            <a:srgbClr val="E4F8F4"/>
          </a:solidFill>
          <a:ln w="10160">
            <a:solidFill>
              <a:srgbClr val="DB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58368" y="4343400"/>
            <a:ext cx="73152" cy="932688"/>
          </a:xfrm>
          <a:prstGeom prst="rect">
            <a:avLst/>
          </a:prstGeom>
          <a:solidFill>
            <a:srgbClr val="42B8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59" y="4453128"/>
            <a:ext cx="569671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19" b="1">
                <a:solidFill>
                  <a:srgbClr val="42B8A4"/>
                </a:solidFill>
                <a:latin typeface="Microsoft YaHei"/>
              </a:rPr>
              <a:t>沟通话术原则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59" y="4782312"/>
            <a:ext cx="5696712" cy="420623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19" b="0">
                <a:solidFill>
                  <a:srgbClr val="586878"/>
                </a:solidFill>
                <a:latin typeface="Microsoft YaHei"/>
              </a:rPr>
              <a:t>现场建议使用“建议您关注”“可以先从这三件事开始”“如持续异常建议到院进一步检查”等表达，既保持专业边界，也避免给市民造成不必要焦虑。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967728" y="4343400"/>
            <a:ext cx="4224528" cy="9326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967728" y="4343400"/>
            <a:ext cx="73152" cy="932688"/>
          </a:xfrm>
          <a:prstGeom prst="rect">
            <a:avLst/>
          </a:prstGeom>
          <a:solidFill>
            <a:srgbClr val="2B7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132320" y="4453128"/>
            <a:ext cx="393192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19" b="1">
                <a:solidFill>
                  <a:srgbClr val="2B7FC6"/>
                </a:solidFill>
                <a:latin typeface="Microsoft YaHei"/>
              </a:rPr>
              <a:t>转化方式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32320" y="4782312"/>
            <a:ext cx="3931920" cy="420623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19" b="0">
                <a:solidFill>
                  <a:srgbClr val="586878"/>
                </a:solidFill>
                <a:latin typeface="Microsoft YaHei"/>
              </a:rPr>
              <a:t>咨询结束后由志愿者引导扫码了解医院体检中心、慢病管理门诊、护理门诊或社区健康服务，保持公益语境，不做强推销售。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6510528"/>
            <a:ext cx="60350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660" b="0">
                <a:solidFill>
                  <a:srgbClr val="586878"/>
                </a:solidFill>
                <a:latin typeface="Microsoft YaHei"/>
              </a:rPr>
              <a:t>护士节公益健康活动方案｜活动策划 · 视觉设计 · 舞美搭建 · 设备执行一体化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675120" y="6565392"/>
            <a:ext cx="4983480" cy="18288"/>
          </a:xfrm>
          <a:prstGeom prst="rect">
            <a:avLst/>
          </a:prstGeom>
          <a:solidFill>
            <a:srgbClr val="DB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2B8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56032"/>
            <a:ext cx="50292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900" b="1">
                <a:solidFill>
                  <a:srgbClr val="42B8A4"/>
                </a:solidFill>
                <a:latin typeface="Microsoft YaHei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64592"/>
            <a:ext cx="9966960" cy="4206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900" b="1">
                <a:solidFill>
                  <a:srgbClr val="153754"/>
                </a:solidFill>
                <a:latin typeface="Microsoft YaHei"/>
              </a:rPr>
              <a:t>运动健康互动区：让科学运动变成市民会做的动作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621792"/>
            <a:ext cx="978408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80" b="0">
                <a:solidFill>
                  <a:srgbClr val="586878"/>
                </a:solidFill>
                <a:latin typeface="Microsoft YaHei"/>
              </a:rPr>
              <a:t>互动内容必须轻量、安全、容易跟练，适合普通市民而不是专业运动人群。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378440" y="256032"/>
            <a:ext cx="1325880" cy="274320"/>
          </a:xfrm>
          <a:prstGeom prst="roundRect">
            <a:avLst/>
          </a:prstGeom>
          <a:solidFill>
            <a:srgbClr val="E4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15015" y="297180"/>
            <a:ext cx="1252728" cy="237744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750" b="1">
                <a:solidFill>
                  <a:srgbClr val="42B8A4"/>
                </a:solidFill>
                <a:latin typeface="Microsoft YaHei"/>
              </a:rPr>
              <a:t>互动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078992"/>
            <a:ext cx="4754880" cy="30632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exercise_sce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133856"/>
            <a:ext cx="4645152" cy="2953512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715000" y="1097280"/>
            <a:ext cx="2514600" cy="87782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715000" y="1097280"/>
            <a:ext cx="73152" cy="877824"/>
          </a:xfrm>
          <a:prstGeom prst="rect">
            <a:avLst/>
          </a:prstGeom>
          <a:solidFill>
            <a:srgbClr val="2B7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79592" y="1207007"/>
            <a:ext cx="222199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19" b="1">
                <a:solidFill>
                  <a:srgbClr val="2B7FC6"/>
                </a:solidFill>
                <a:latin typeface="Microsoft YaHei"/>
              </a:rPr>
              <a:t>科学拉伸教学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79592" y="1536192"/>
            <a:ext cx="2221992" cy="365759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740" b="0">
                <a:solidFill>
                  <a:srgbClr val="586878"/>
                </a:solidFill>
                <a:latin typeface="Microsoft YaHei"/>
              </a:rPr>
              <a:t>肩颈、腰背、下肢拉伸，每轮 5 分钟，适合职场人和中老年。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03920" y="1097280"/>
            <a:ext cx="2514600" cy="87782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503920" y="1097280"/>
            <a:ext cx="73152" cy="877824"/>
          </a:xfrm>
          <a:prstGeom prst="rect">
            <a:avLst/>
          </a:prstGeom>
          <a:solidFill>
            <a:srgbClr val="42B8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68512" y="1207007"/>
            <a:ext cx="222199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19" b="1">
                <a:solidFill>
                  <a:srgbClr val="42B8A4"/>
                </a:solidFill>
                <a:latin typeface="Microsoft YaHei"/>
              </a:rPr>
              <a:t>八段锦/健步走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68512" y="1536192"/>
            <a:ext cx="2221992" cy="365759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740" b="0">
                <a:solidFill>
                  <a:srgbClr val="586878"/>
                </a:solidFill>
                <a:latin typeface="Microsoft YaHei"/>
              </a:rPr>
              <a:t>动作慢、示范清楚，强调循序渐进和身体感受，不追求强度。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15000" y="2249424"/>
            <a:ext cx="2514600" cy="87782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715000" y="2249424"/>
            <a:ext cx="73152" cy="877824"/>
          </a:xfrm>
          <a:prstGeom prst="rect">
            <a:avLst/>
          </a:prstGeom>
          <a:solidFill>
            <a:srgbClr val="6FBE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79592" y="2359152"/>
            <a:ext cx="222199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19" b="1">
                <a:solidFill>
                  <a:srgbClr val="6FBE7B"/>
                </a:solidFill>
                <a:latin typeface="Microsoft YaHei"/>
              </a:rPr>
              <a:t>体态评估体验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79592" y="2688336"/>
            <a:ext cx="2221992" cy="365759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740" b="0">
                <a:solidFill>
                  <a:srgbClr val="586878"/>
                </a:solidFill>
                <a:latin typeface="Microsoft YaHei"/>
              </a:rPr>
              <a:t>通过站姿观察和肩颈活动度测试，引导久坐人群关注身体信号。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503920" y="2249424"/>
            <a:ext cx="2514600" cy="87782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503920" y="2249424"/>
            <a:ext cx="73152" cy="877824"/>
          </a:xfrm>
          <a:prstGeom prst="rect">
            <a:avLst/>
          </a:prstGeom>
          <a:solidFill>
            <a:srgbClr val="F49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68512" y="2359152"/>
            <a:ext cx="222199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19" b="1">
                <a:solidFill>
                  <a:srgbClr val="F49752"/>
                </a:solidFill>
                <a:latin typeface="Microsoft YaHei"/>
              </a:rPr>
              <a:t>运动打卡挑战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68512" y="2688336"/>
            <a:ext cx="2221992" cy="365759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740" b="0">
                <a:solidFill>
                  <a:srgbClr val="586878"/>
                </a:solidFill>
                <a:latin typeface="Microsoft YaHei"/>
              </a:rPr>
              <a:t>完成一个拉伸动作或健康步数承诺，即可获得贴纸或健康小礼。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4599432"/>
            <a:ext cx="5577840" cy="841248"/>
          </a:xfrm>
          <a:prstGeom prst="roundRect">
            <a:avLst/>
          </a:prstGeom>
          <a:solidFill>
            <a:srgbClr val="E4F8F4"/>
          </a:solidFill>
          <a:ln w="10160">
            <a:solidFill>
              <a:srgbClr val="DB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4599432"/>
            <a:ext cx="73152" cy="841248"/>
          </a:xfrm>
          <a:prstGeom prst="rect">
            <a:avLst/>
          </a:prstGeom>
          <a:solidFill>
            <a:srgbClr val="42B8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59" y="4709160"/>
            <a:ext cx="5285231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19" b="1">
                <a:solidFill>
                  <a:srgbClr val="42B8A4"/>
                </a:solidFill>
                <a:latin typeface="Microsoft YaHei"/>
              </a:rPr>
              <a:t>现场安全要求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59" y="5038344"/>
            <a:ext cx="5285231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19" b="0">
                <a:solidFill>
                  <a:srgbClr val="586878"/>
                </a:solidFill>
                <a:latin typeface="Microsoft YaHei"/>
              </a:rPr>
              <a:t>运动区地面使用防滑垫，周边保留安全距离；不安排高强度跳跃，不要求老人勉强完成动作。现场配备休息座椅、饮用水和医护应急支持。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10528" y="4599432"/>
            <a:ext cx="4663440" cy="841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510528" y="4599432"/>
            <a:ext cx="73152" cy="841248"/>
          </a:xfrm>
          <a:prstGeom prst="rect">
            <a:avLst/>
          </a:prstGeom>
          <a:solidFill>
            <a:srgbClr val="2B7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75120" y="4709160"/>
            <a:ext cx="4370831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19" b="1">
                <a:solidFill>
                  <a:srgbClr val="2B7FC6"/>
                </a:solidFill>
                <a:latin typeface="Microsoft YaHei"/>
              </a:rPr>
              <a:t>互动节奏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5038344"/>
            <a:ext cx="4370831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19" b="0">
                <a:solidFill>
                  <a:srgbClr val="586878"/>
                </a:solidFill>
                <a:latin typeface="Microsoft YaHei"/>
              </a:rPr>
              <a:t>每轮互动控制在 8-10 分钟，主持人负责召集，指导员负责示范，志愿者负责安全提醒、奖品发放和打卡拍照。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510528"/>
            <a:ext cx="60350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660" b="0">
                <a:solidFill>
                  <a:srgbClr val="586878"/>
                </a:solidFill>
                <a:latin typeface="Microsoft YaHei"/>
              </a:rPr>
              <a:t>护士节公益健康活动方案｜活动策划 · 视觉设计 · 舞美搭建 · 设备执行一体化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675120" y="6565392"/>
            <a:ext cx="4983480" cy="18288"/>
          </a:xfrm>
          <a:prstGeom prst="rect">
            <a:avLst/>
          </a:prstGeom>
          <a:solidFill>
            <a:srgbClr val="DB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2B8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56032"/>
            <a:ext cx="50292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900" b="1">
                <a:solidFill>
                  <a:srgbClr val="42B8A4"/>
                </a:solidFill>
                <a:latin typeface="Microsoft YaHei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64592"/>
            <a:ext cx="9966960" cy="4206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900" b="1">
                <a:solidFill>
                  <a:srgbClr val="153754"/>
                </a:solidFill>
                <a:latin typeface="Microsoft YaHei"/>
              </a:rPr>
              <a:t>护士节致敬环节：正式、温暖、不煽情过度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621792"/>
            <a:ext cx="978408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80" b="0">
                <a:solidFill>
                  <a:srgbClr val="586878"/>
                </a:solidFill>
                <a:latin typeface="Microsoft YaHei"/>
              </a:rPr>
              <a:t>致敬环节要让护理团队被看见、被尊重，也让市民理解护理工作背后的专业价值。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378440" y="256032"/>
            <a:ext cx="1325880" cy="274320"/>
          </a:xfrm>
          <a:prstGeom prst="roundRect">
            <a:avLst/>
          </a:prstGeom>
          <a:solidFill>
            <a:srgbClr val="E4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15015" y="297180"/>
            <a:ext cx="1252728" cy="237744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750" b="1">
                <a:solidFill>
                  <a:srgbClr val="42B8A4"/>
                </a:solidFill>
                <a:latin typeface="Microsoft YaHei"/>
              </a:rPr>
              <a:t>仪式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078992"/>
            <a:ext cx="4617720" cy="3108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tribute_sce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133856"/>
            <a:ext cx="4507992" cy="2999232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559552" y="1097280"/>
            <a:ext cx="2578608" cy="6949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559552" y="1097280"/>
            <a:ext cx="73152" cy="694944"/>
          </a:xfrm>
          <a:prstGeom prst="rect">
            <a:avLst/>
          </a:prstGeom>
          <a:solidFill>
            <a:srgbClr val="2B7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24144" y="1207007"/>
            <a:ext cx="228600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19" b="1">
                <a:solidFill>
                  <a:srgbClr val="2B7FC6"/>
                </a:solidFill>
                <a:latin typeface="Microsoft YaHei"/>
              </a:rPr>
              <a:t>主持开场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24144" y="1536192"/>
            <a:ext cx="2286000" cy="182879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710" b="0">
                <a:solidFill>
                  <a:srgbClr val="586878"/>
                </a:solidFill>
                <a:latin typeface="Microsoft YaHei"/>
              </a:rPr>
              <a:t>用“今天，我们把掌声献给每一位守护生命细节的人”引入活动。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0" y="1097280"/>
            <a:ext cx="2578608" cy="6949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412480" y="1097280"/>
            <a:ext cx="73152" cy="694944"/>
          </a:xfrm>
          <a:prstGeom prst="rect">
            <a:avLst/>
          </a:prstGeom>
          <a:solidFill>
            <a:srgbClr val="42B8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77072" y="1207007"/>
            <a:ext cx="228600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19" b="1">
                <a:solidFill>
                  <a:srgbClr val="42B8A4"/>
                </a:solidFill>
                <a:latin typeface="Microsoft YaHei"/>
              </a:rPr>
              <a:t>护士代表分享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77072" y="1536192"/>
            <a:ext cx="2286000" cy="182879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710" b="0">
                <a:solidFill>
                  <a:srgbClr val="586878"/>
                </a:solidFill>
                <a:latin typeface="Microsoft YaHei"/>
              </a:rPr>
              <a:t>邀请 1-2 位护士讲述真实护理片段，每人控制在 3 分钟内。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559552" y="2029967"/>
            <a:ext cx="2578608" cy="6949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559552" y="2029967"/>
            <a:ext cx="73152" cy="694944"/>
          </a:xfrm>
          <a:prstGeom prst="rect">
            <a:avLst/>
          </a:prstGeom>
          <a:solidFill>
            <a:srgbClr val="6FBE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24144" y="2139696"/>
            <a:ext cx="228600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19" b="1">
                <a:solidFill>
                  <a:srgbClr val="6FBE7B"/>
                </a:solidFill>
                <a:latin typeface="Microsoft YaHei"/>
              </a:rPr>
              <a:t>致敬短片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24144" y="2468879"/>
            <a:ext cx="2286000" cy="182879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710" b="0">
                <a:solidFill>
                  <a:srgbClr val="586878"/>
                </a:solidFill>
                <a:latin typeface="Microsoft YaHei"/>
              </a:rPr>
              <a:t>展示护理日常、夜班值守、患者沟通和公益服务画面。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12480" y="2029967"/>
            <a:ext cx="2578608" cy="6949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412480" y="2029967"/>
            <a:ext cx="73152" cy="694944"/>
          </a:xfrm>
          <a:prstGeom prst="rect">
            <a:avLst/>
          </a:prstGeom>
          <a:solidFill>
            <a:srgbClr val="F49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77072" y="2139696"/>
            <a:ext cx="228600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19" b="1">
                <a:solidFill>
                  <a:srgbClr val="F49752"/>
                </a:solidFill>
                <a:latin typeface="Microsoft YaHei"/>
              </a:rPr>
              <a:t>鲜花/证书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77072" y="2468879"/>
            <a:ext cx="2286000" cy="182879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710" b="0">
                <a:solidFill>
                  <a:srgbClr val="586878"/>
                </a:solidFill>
                <a:latin typeface="Microsoft YaHei"/>
              </a:rPr>
              <a:t>由医院领导或市民代表向护士代表献花，颁发纪念证书。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559552" y="2962656"/>
            <a:ext cx="2578608" cy="6949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559552" y="2962656"/>
            <a:ext cx="73152" cy="694944"/>
          </a:xfrm>
          <a:prstGeom prst="rect">
            <a:avLst/>
          </a:prstGeom>
          <a:solidFill>
            <a:srgbClr val="E766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724144" y="3072384"/>
            <a:ext cx="228600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19" b="1">
                <a:solidFill>
                  <a:srgbClr val="E76660"/>
                </a:solidFill>
                <a:latin typeface="Microsoft YaHei"/>
              </a:rPr>
              <a:t>公众祝福墙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24144" y="3401568"/>
            <a:ext cx="2286000" cy="182879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710" b="0">
                <a:solidFill>
                  <a:srgbClr val="586878"/>
                </a:solidFill>
                <a:latin typeface="Microsoft YaHei"/>
              </a:rPr>
              <a:t>市民写下想对护士说的话，并与护士团队合影。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4645152"/>
            <a:ext cx="10716768" cy="804672"/>
          </a:xfrm>
          <a:prstGeom prst="roundRect">
            <a:avLst/>
          </a:prstGeom>
          <a:solidFill>
            <a:srgbClr val="E4F8F4"/>
          </a:solidFill>
          <a:ln w="10160">
            <a:solidFill>
              <a:srgbClr val="DB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58368" y="4645152"/>
            <a:ext cx="73152" cy="804672"/>
          </a:xfrm>
          <a:prstGeom prst="rect">
            <a:avLst/>
          </a:prstGeom>
          <a:solidFill>
            <a:srgbClr val="42B8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59" y="4754880"/>
            <a:ext cx="1042416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19" b="1">
                <a:solidFill>
                  <a:srgbClr val="42B8A4"/>
                </a:solidFill>
                <a:latin typeface="Microsoft YaHei"/>
              </a:rPr>
              <a:t>彩排与传播重点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59" y="5084064"/>
            <a:ext cx="10424160" cy="292607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10" b="0">
                <a:solidFill>
                  <a:srgbClr val="586878"/>
                </a:solidFill>
                <a:latin typeface="Microsoft YaHei"/>
              </a:rPr>
              <a:t>仪式建议控制在 20 分钟以内。短片、音乐、证书名单、上台顺序和合影站位需提前彩排；摄影摄像必须捕捉献花、合影、祝福墙和护理团队特写。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510528"/>
            <a:ext cx="60350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660" b="0">
                <a:solidFill>
                  <a:srgbClr val="586878"/>
                </a:solidFill>
                <a:latin typeface="Microsoft YaHei"/>
              </a:rPr>
              <a:t>护士节公益健康活动方案｜活动策划 · 视觉设计 · 舞美搭建 · 设备执行一体化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675120" y="6565392"/>
            <a:ext cx="4983480" cy="18288"/>
          </a:xfrm>
          <a:prstGeom prst="rect">
            <a:avLst/>
          </a:prstGeom>
          <a:solidFill>
            <a:srgbClr val="DB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2B8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56032"/>
            <a:ext cx="50292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900" b="1">
                <a:solidFill>
                  <a:srgbClr val="42B8A4"/>
                </a:solidFill>
                <a:latin typeface="Microsoft YaHei"/>
              </a:rP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64592"/>
            <a:ext cx="9966960" cy="4206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900" b="1">
                <a:solidFill>
                  <a:srgbClr val="153754"/>
                </a:solidFill>
                <a:latin typeface="Microsoft YaHei"/>
              </a:rPr>
              <a:t>健康生活科普：把专业知识变成一句能记住的行动建议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621792"/>
            <a:ext cx="978408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80" b="0">
                <a:solidFill>
                  <a:srgbClr val="586878"/>
                </a:solidFill>
                <a:latin typeface="Microsoft YaHei"/>
              </a:rPr>
              <a:t>科普内容围绕体检、运动、慢病、膳食、睡眠五个高频话题展开，适合展板、讲座和手册复用。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378440" y="256032"/>
            <a:ext cx="1325880" cy="274320"/>
          </a:xfrm>
          <a:prstGeom prst="roundRect">
            <a:avLst/>
          </a:prstGeom>
          <a:solidFill>
            <a:srgbClr val="E4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15015" y="297180"/>
            <a:ext cx="1252728" cy="237744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750" b="1">
                <a:solidFill>
                  <a:srgbClr val="42B8A4"/>
                </a:solidFill>
                <a:latin typeface="Microsoft YaHei"/>
              </a:rPr>
              <a:t>科普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042415"/>
            <a:ext cx="4297680" cy="28346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education_w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097280"/>
            <a:ext cx="4187952" cy="2724912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285232" y="1024128"/>
            <a:ext cx="2606040" cy="841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285232" y="1024128"/>
            <a:ext cx="73152" cy="841248"/>
          </a:xfrm>
          <a:prstGeom prst="rect">
            <a:avLst/>
          </a:prstGeom>
          <a:solidFill>
            <a:srgbClr val="2B7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49824" y="1133856"/>
            <a:ext cx="231343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19" b="1">
                <a:solidFill>
                  <a:srgbClr val="2B7FC6"/>
                </a:solidFill>
                <a:latin typeface="Microsoft YaHei"/>
              </a:rPr>
              <a:t>定期体检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49824" y="1463040"/>
            <a:ext cx="2313432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680" b="0">
                <a:solidFill>
                  <a:srgbClr val="586878"/>
                </a:solidFill>
                <a:latin typeface="Microsoft YaHei"/>
              </a:rPr>
              <a:t>体检不是“有病才做”，而是帮助我们更早发现身体发出的提醒。今日行动：记录一次血压、血糖或 BMI。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65592" y="1024128"/>
            <a:ext cx="2606040" cy="841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65592" y="1024128"/>
            <a:ext cx="73152" cy="841248"/>
          </a:xfrm>
          <a:prstGeom prst="rect">
            <a:avLst/>
          </a:prstGeom>
          <a:solidFill>
            <a:srgbClr val="42B8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30183" y="1133856"/>
            <a:ext cx="231343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19" b="1">
                <a:solidFill>
                  <a:srgbClr val="42B8A4"/>
                </a:solidFill>
                <a:latin typeface="Microsoft YaHei"/>
              </a:rPr>
              <a:t>科学运动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0183" y="1463040"/>
            <a:ext cx="2313432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680" b="0">
                <a:solidFill>
                  <a:srgbClr val="586878"/>
                </a:solidFill>
                <a:latin typeface="Microsoft YaHei"/>
              </a:rPr>
              <a:t>适合自己的运动，应该能长期坚持、循序渐进，并在运动后感觉舒展而不是透支。今日行动：学习一个拉伸动作。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285232" y="2075688"/>
            <a:ext cx="2606040" cy="841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285232" y="2075688"/>
            <a:ext cx="73152" cy="841248"/>
          </a:xfrm>
          <a:prstGeom prst="rect">
            <a:avLst/>
          </a:prstGeom>
          <a:solidFill>
            <a:srgbClr val="6FBE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49824" y="2185416"/>
            <a:ext cx="231343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19" b="1">
                <a:solidFill>
                  <a:srgbClr val="6FBE7B"/>
                </a:solidFill>
                <a:latin typeface="Microsoft YaHei"/>
              </a:rPr>
              <a:t>慢病预防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49824" y="2514600"/>
            <a:ext cx="2313432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680" b="0">
                <a:solidFill>
                  <a:srgbClr val="586878"/>
                </a:solidFill>
                <a:latin typeface="Microsoft YaHei"/>
              </a:rPr>
              <a:t>血压、血糖、血脂的变化往往从生活习惯开始，也需要通过持续监测来管理。今日行动：建立家庭健康记录。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65592" y="2075688"/>
            <a:ext cx="2606040" cy="841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165592" y="2075688"/>
            <a:ext cx="73152" cy="841248"/>
          </a:xfrm>
          <a:prstGeom prst="rect">
            <a:avLst/>
          </a:prstGeom>
          <a:solidFill>
            <a:srgbClr val="F49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30183" y="2185416"/>
            <a:ext cx="231343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19" b="1">
                <a:solidFill>
                  <a:srgbClr val="F49752"/>
                </a:solidFill>
                <a:latin typeface="Microsoft YaHei"/>
              </a:rPr>
              <a:t>合理膳食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30183" y="2514600"/>
            <a:ext cx="2313432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680" b="0">
                <a:solidFill>
                  <a:srgbClr val="586878"/>
                </a:solidFill>
                <a:latin typeface="Microsoft YaHei"/>
              </a:rPr>
              <a:t>少油、少盐、少糖可以从每餐多一份蔬菜、少一杯含糖饮料开始。今日行动：给晚餐减一勺盐。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285232" y="3127248"/>
            <a:ext cx="2606040" cy="841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285232" y="3127248"/>
            <a:ext cx="73152" cy="841248"/>
          </a:xfrm>
          <a:prstGeom prst="rect">
            <a:avLst/>
          </a:prstGeom>
          <a:solidFill>
            <a:srgbClr val="E766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49824" y="3236976"/>
            <a:ext cx="231343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19" b="1">
                <a:solidFill>
                  <a:srgbClr val="E76660"/>
                </a:solidFill>
                <a:latin typeface="Microsoft YaHei"/>
              </a:rPr>
              <a:t>睡眠压力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49824" y="3566160"/>
            <a:ext cx="2313432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680" b="0">
                <a:solidFill>
                  <a:srgbClr val="586878"/>
                </a:solidFill>
                <a:latin typeface="Microsoft YaHei"/>
              </a:rPr>
              <a:t>睡不好、压力大也会影响血压、体重和免疫状态。今日行动：今晚提前 30 分钟放下手机。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4599432"/>
            <a:ext cx="10698480" cy="822960"/>
          </a:xfrm>
          <a:prstGeom prst="roundRect">
            <a:avLst/>
          </a:prstGeom>
          <a:solidFill>
            <a:srgbClr val="E4F8F4"/>
          </a:solidFill>
          <a:ln w="10160">
            <a:solidFill>
              <a:srgbClr val="DB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58368" y="4599432"/>
            <a:ext cx="73152" cy="822960"/>
          </a:xfrm>
          <a:prstGeom prst="rect">
            <a:avLst/>
          </a:prstGeom>
          <a:solidFill>
            <a:srgbClr val="42B8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59" y="4709160"/>
            <a:ext cx="1040587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19" b="1">
                <a:solidFill>
                  <a:srgbClr val="42B8A4"/>
                </a:solidFill>
                <a:latin typeface="Microsoft YaHei"/>
              </a:rPr>
              <a:t>内容审核机制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59" y="5038344"/>
            <a:ext cx="10405872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19" b="0">
                <a:solidFill>
                  <a:srgbClr val="586878"/>
                </a:solidFill>
                <a:latin typeface="Microsoft YaHei"/>
              </a:rPr>
              <a:t>所有科普文案先由承办方转化为通俗表达，再提交医院相关科室审核，确保专业准确、表述温和、适合公众阅读。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510528"/>
            <a:ext cx="60350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660" b="0">
                <a:solidFill>
                  <a:srgbClr val="586878"/>
                </a:solidFill>
                <a:latin typeface="Microsoft YaHei"/>
              </a:rPr>
              <a:t>护士节公益健康活动方案｜活动策划 · 视觉设计 · 舞美搭建 · 设备执行一体化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675120" y="6565392"/>
            <a:ext cx="4983480" cy="18288"/>
          </a:xfrm>
          <a:prstGeom prst="rect">
            <a:avLst/>
          </a:prstGeom>
          <a:solidFill>
            <a:srgbClr val="DB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2B8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56032"/>
            <a:ext cx="50292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900" b="1">
                <a:solidFill>
                  <a:srgbClr val="42B8A4"/>
                </a:solidFill>
                <a:latin typeface="Microsoft YaHei"/>
              </a:rP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64592"/>
            <a:ext cx="9966960" cy="4206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900" b="1">
                <a:solidFill>
                  <a:srgbClr val="153754"/>
                </a:solidFill>
                <a:latin typeface="Microsoft YaHei"/>
              </a:rPr>
              <a:t>朋友圈宣发与引流：让真实参与成为自然传播素材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621792"/>
            <a:ext cx="978408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80" b="0">
                <a:solidFill>
                  <a:srgbClr val="586878"/>
                </a:solidFill>
                <a:latin typeface="Microsoft YaHei"/>
              </a:rPr>
              <a:t>文案要亲和、有行动指令、适合市民转发，避免过度官方和营销化。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378440" y="256032"/>
            <a:ext cx="1325880" cy="274320"/>
          </a:xfrm>
          <a:prstGeom prst="roundRect">
            <a:avLst/>
          </a:prstGeom>
          <a:solidFill>
            <a:srgbClr val="E4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15015" y="297180"/>
            <a:ext cx="1252728" cy="237744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750" b="1">
                <a:solidFill>
                  <a:srgbClr val="42B8A4"/>
                </a:solidFill>
                <a:latin typeface="Microsoft YaHei"/>
              </a:rPr>
              <a:t>传播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097280"/>
            <a:ext cx="2651760" cy="41605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ocial_ph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1152144"/>
            <a:ext cx="2542032" cy="4050791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3767328" y="1078992"/>
            <a:ext cx="3337560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767328" y="1078992"/>
            <a:ext cx="73152" cy="1298448"/>
          </a:xfrm>
          <a:prstGeom prst="rect">
            <a:avLst/>
          </a:prstGeom>
          <a:solidFill>
            <a:srgbClr val="2B7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31920" y="1188719"/>
            <a:ext cx="304495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19" b="1">
                <a:solidFill>
                  <a:srgbClr val="2B7FC6"/>
                </a:solidFill>
                <a:latin typeface="Microsoft YaHei"/>
              </a:rPr>
              <a:t>预热文案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1517904"/>
            <a:ext cx="3044952" cy="786383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10" b="0">
                <a:solidFill>
                  <a:srgbClr val="586878"/>
                </a:solidFill>
                <a:latin typeface="Microsoft YaHei"/>
              </a:rPr>
              <a:t>这个护士节，医院把公益体检和健康咨询带到大家身边。血压、血糖、BMI、运动指导都能现场参与，带上家人一起来给健康做个小检查吧。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70648" y="1078992"/>
            <a:ext cx="3337560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470648" y="1078992"/>
            <a:ext cx="73152" cy="1298448"/>
          </a:xfrm>
          <a:prstGeom prst="rect">
            <a:avLst/>
          </a:prstGeom>
          <a:solidFill>
            <a:srgbClr val="42B8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35240" y="1188719"/>
            <a:ext cx="304495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19" b="1">
                <a:solidFill>
                  <a:srgbClr val="42B8A4"/>
                </a:solidFill>
                <a:latin typeface="Microsoft YaHei"/>
              </a:rPr>
              <a:t>活动当天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35240" y="1517904"/>
            <a:ext cx="3044952" cy="786383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10" b="0">
                <a:solidFill>
                  <a:srgbClr val="586878"/>
                </a:solidFill>
                <a:latin typeface="Microsoft YaHei"/>
              </a:rPr>
              <a:t>今天在医院公益健康活动现场，测了血压，也学了几个肩颈拉伸动作。谢谢护士们的耐心讲解，健康真的要从日常开始。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67328" y="2706624"/>
            <a:ext cx="3337560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767328" y="2706624"/>
            <a:ext cx="73152" cy="1298448"/>
          </a:xfrm>
          <a:prstGeom prst="rect">
            <a:avLst/>
          </a:prstGeom>
          <a:solidFill>
            <a:srgbClr val="6FBE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31920" y="2816352"/>
            <a:ext cx="304495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19" b="1">
                <a:solidFill>
                  <a:srgbClr val="6FBE7B"/>
                </a:solidFill>
                <a:latin typeface="Microsoft YaHei"/>
              </a:rPr>
              <a:t>现场打卡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31920" y="3145536"/>
            <a:ext cx="3044952" cy="786383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10" b="0">
                <a:solidFill>
                  <a:srgbClr val="586878"/>
                </a:solidFill>
                <a:latin typeface="Microsoft YaHei"/>
              </a:rPr>
              <a:t>我在“致敬白衣天使，共赴健康生活”现场完成健康打卡。把掌声送给守护者，也把健康提醒送给自己和家人。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70648" y="2706624"/>
            <a:ext cx="3337560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470648" y="2706624"/>
            <a:ext cx="73152" cy="1298448"/>
          </a:xfrm>
          <a:prstGeom prst="rect">
            <a:avLst/>
          </a:prstGeom>
          <a:solidFill>
            <a:srgbClr val="F49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35240" y="2816352"/>
            <a:ext cx="304495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19" b="1">
                <a:solidFill>
                  <a:srgbClr val="F49752"/>
                </a:solidFill>
                <a:latin typeface="Microsoft YaHei"/>
              </a:rPr>
              <a:t>活动复盘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35240" y="3145536"/>
            <a:ext cx="3044952" cy="786383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10" b="0">
                <a:solidFill>
                  <a:srgbClr val="586878"/>
                </a:solidFill>
                <a:latin typeface="Microsoft YaHei"/>
              </a:rPr>
              <a:t>一上午的公益体检和健康咨询结束，感谢每一位到场市民，也感谢护理团队的专业守护。愿我们都从今天开始更关注身体发出的信号。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767328" y="4791456"/>
            <a:ext cx="7040880" cy="786384"/>
          </a:xfrm>
          <a:prstGeom prst="roundRect">
            <a:avLst/>
          </a:prstGeom>
          <a:solidFill>
            <a:srgbClr val="E4F8F4"/>
          </a:solidFill>
          <a:ln w="10160">
            <a:solidFill>
              <a:srgbClr val="DB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767328" y="4791456"/>
            <a:ext cx="73152" cy="786384"/>
          </a:xfrm>
          <a:prstGeom prst="rect">
            <a:avLst/>
          </a:prstGeom>
          <a:solidFill>
            <a:srgbClr val="42B8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931920" y="4901184"/>
            <a:ext cx="674827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19" b="1">
                <a:solidFill>
                  <a:srgbClr val="42B8A4"/>
                </a:solidFill>
                <a:latin typeface="Microsoft YaHei"/>
              </a:rPr>
              <a:t>拍摄与发布建议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31920" y="5230368"/>
            <a:ext cx="6748272" cy="274319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10" b="0">
                <a:solidFill>
                  <a:srgbClr val="586878"/>
                </a:solidFill>
                <a:latin typeface="Microsoft YaHei"/>
              </a:rPr>
              <a:t>摄影摄像提前拿到必拍清单：护士致敬、体检服务、咨询沟通、运动互动、打卡合影、物料全景。活动中快速筛图，供医院公众号和朋友圈当天发布。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510528"/>
            <a:ext cx="60350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660" b="0">
                <a:solidFill>
                  <a:srgbClr val="586878"/>
                </a:solidFill>
                <a:latin typeface="Microsoft YaHei"/>
              </a:rPr>
              <a:t>护士节公益健康活动方案｜活动策划 · 视觉设计 · 舞美搭建 · 设备执行一体化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675120" y="6565392"/>
            <a:ext cx="4983480" cy="18288"/>
          </a:xfrm>
          <a:prstGeom prst="rect">
            <a:avLst/>
          </a:prstGeom>
          <a:solidFill>
            <a:srgbClr val="DB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2B8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56032"/>
            <a:ext cx="50292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900" b="1">
                <a:solidFill>
                  <a:srgbClr val="42B8A4"/>
                </a:solidFill>
                <a:latin typeface="Microsoft YaHei"/>
              </a:rPr>
              <a:t>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64592"/>
            <a:ext cx="9966960" cy="4206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900" b="1">
                <a:solidFill>
                  <a:srgbClr val="153754"/>
                </a:solidFill>
                <a:latin typeface="Microsoft YaHei"/>
              </a:rPr>
              <a:t>视觉与美陈：干净专业，温暖亲民，适合现场出片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621792"/>
            <a:ext cx="978408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80" b="0">
                <a:solidFill>
                  <a:srgbClr val="586878"/>
                </a:solidFill>
                <a:latin typeface="Microsoft YaHei"/>
              </a:rPr>
              <a:t>视觉系统以医疗蓝、白色、浅绿色为主，辅以少量暖色表达节日温度。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378440" y="256032"/>
            <a:ext cx="1325880" cy="274320"/>
          </a:xfrm>
          <a:prstGeom prst="roundRect">
            <a:avLst/>
          </a:prstGeom>
          <a:solidFill>
            <a:srgbClr val="E4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15015" y="297180"/>
            <a:ext cx="1252728" cy="237744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750" b="1">
                <a:solidFill>
                  <a:srgbClr val="42B8A4"/>
                </a:solidFill>
                <a:latin typeface="Microsoft YaHei"/>
              </a:rPr>
              <a:t>视觉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042415"/>
            <a:ext cx="128016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1">
                <a:solidFill>
                  <a:srgbClr val="42B8A4"/>
                </a:solidFill>
                <a:latin typeface="Microsoft YaHei"/>
              </a:rPr>
              <a:t>主视觉延展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417320"/>
            <a:ext cx="594360" cy="594360"/>
          </a:xfrm>
          <a:prstGeom prst="roundRect">
            <a:avLst/>
          </a:prstGeom>
          <a:solidFill>
            <a:srgbClr val="2B7FC6"/>
          </a:solidFill>
          <a:ln w="7620">
            <a:solidFill>
              <a:srgbClr val="DB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084831"/>
            <a:ext cx="77724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660" b="0">
                <a:solidFill>
                  <a:srgbClr val="586878"/>
                </a:solidFill>
                <a:latin typeface="Microsoft YaHei"/>
              </a:rPr>
              <a:t>医疗蓝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508760" y="1417320"/>
            <a:ext cx="594360" cy="59436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B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17320" y="2084831"/>
            <a:ext cx="77724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660" b="0">
                <a:solidFill>
                  <a:srgbClr val="586878"/>
                </a:solidFill>
                <a:latin typeface="Microsoft YaHei"/>
              </a:rPr>
              <a:t>洁净白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331720" y="1417320"/>
            <a:ext cx="594360" cy="594360"/>
          </a:xfrm>
          <a:prstGeom prst="roundRect">
            <a:avLst/>
          </a:prstGeom>
          <a:solidFill>
            <a:srgbClr val="42B8A4"/>
          </a:solidFill>
          <a:ln w="7620">
            <a:solidFill>
              <a:srgbClr val="DB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40280" y="2084831"/>
            <a:ext cx="77724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660" b="0">
                <a:solidFill>
                  <a:srgbClr val="586878"/>
                </a:solidFill>
                <a:latin typeface="Microsoft YaHei"/>
              </a:rPr>
              <a:t>浅绿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154680" y="1417320"/>
            <a:ext cx="594360" cy="594360"/>
          </a:xfrm>
          <a:prstGeom prst="roundRect">
            <a:avLst/>
          </a:prstGeom>
          <a:solidFill>
            <a:srgbClr val="F49752"/>
          </a:solidFill>
          <a:ln w="7620">
            <a:solidFill>
              <a:srgbClr val="DB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63240" y="2084831"/>
            <a:ext cx="77724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660" b="0">
                <a:solidFill>
                  <a:srgbClr val="586878"/>
                </a:solidFill>
                <a:latin typeface="Microsoft YaHei"/>
              </a:rPr>
              <a:t>暖橙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977639" y="1417320"/>
            <a:ext cx="594360" cy="594360"/>
          </a:xfrm>
          <a:prstGeom prst="roundRect">
            <a:avLst/>
          </a:prstGeom>
          <a:solidFill>
            <a:srgbClr val="F6C6CD"/>
          </a:solidFill>
          <a:ln w="7620">
            <a:solidFill>
              <a:srgbClr val="DB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86200" y="2084831"/>
            <a:ext cx="77724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660" b="0">
                <a:solidFill>
                  <a:srgbClr val="586878"/>
                </a:solidFill>
                <a:latin typeface="Microsoft YaHei"/>
              </a:rPr>
              <a:t>柔粉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1024128"/>
            <a:ext cx="4892040" cy="2560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stage_set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7064" y="1078992"/>
            <a:ext cx="4782312" cy="2450591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658368" y="2880360"/>
            <a:ext cx="2523744" cy="685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" y="2880360"/>
            <a:ext cx="73152" cy="685800"/>
          </a:xfrm>
          <a:prstGeom prst="rect">
            <a:avLst/>
          </a:prstGeom>
          <a:solidFill>
            <a:srgbClr val="2B7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59" y="2990088"/>
            <a:ext cx="2231136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19" b="1">
                <a:solidFill>
                  <a:srgbClr val="2B7FC6"/>
                </a:solidFill>
                <a:latin typeface="Microsoft YaHei"/>
              </a:rPr>
              <a:t>签到背景板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59" y="3319272"/>
            <a:ext cx="2231136" cy="173735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680" b="0">
                <a:solidFill>
                  <a:srgbClr val="586878"/>
                </a:solidFill>
                <a:latin typeface="Microsoft YaHei"/>
              </a:rPr>
              <a:t>标题清晰、LOGO规范、保留合影空间，适合媒体和市民拍照。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447287" y="2880360"/>
            <a:ext cx="2523744" cy="685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447287" y="2880360"/>
            <a:ext cx="73152" cy="685800"/>
          </a:xfrm>
          <a:prstGeom prst="rect">
            <a:avLst/>
          </a:prstGeom>
          <a:solidFill>
            <a:srgbClr val="42B8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11879" y="2990088"/>
            <a:ext cx="2231136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19" b="1">
                <a:solidFill>
                  <a:srgbClr val="42B8A4"/>
                </a:solidFill>
                <a:latin typeface="Microsoft YaHei"/>
              </a:rPr>
              <a:t>护士节致敬墙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11879" y="3319272"/>
            <a:ext cx="2231136" cy="173735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680" b="0">
                <a:solidFill>
                  <a:srgbClr val="586878"/>
                </a:solidFill>
                <a:latin typeface="Microsoft YaHei"/>
              </a:rPr>
              <a:t>设置祝福便利贴和护士团队照片，让市民表达感谢。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3794760"/>
            <a:ext cx="2523744" cy="685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58368" y="3794760"/>
            <a:ext cx="73152" cy="685800"/>
          </a:xfrm>
          <a:prstGeom prst="rect">
            <a:avLst/>
          </a:prstGeom>
          <a:solidFill>
            <a:srgbClr val="6FBE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59" y="3904488"/>
            <a:ext cx="2231136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19" b="1">
                <a:solidFill>
                  <a:srgbClr val="6FBE7B"/>
                </a:solidFill>
                <a:latin typeface="Microsoft YaHei"/>
              </a:rPr>
              <a:t>健康打卡装置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59" y="4233672"/>
            <a:ext cx="2231136" cy="173735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680" b="0">
                <a:solidFill>
                  <a:srgbClr val="586878"/>
                </a:solidFill>
                <a:latin typeface="Microsoft YaHei"/>
              </a:rPr>
              <a:t>使用“今日健康承诺”“把健康带回家”等文案形成朋友圈记忆点。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447287" y="3794760"/>
            <a:ext cx="2523744" cy="685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447287" y="3794760"/>
            <a:ext cx="73152" cy="685800"/>
          </a:xfrm>
          <a:prstGeom prst="rect">
            <a:avLst/>
          </a:prstGeom>
          <a:solidFill>
            <a:srgbClr val="F49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11879" y="3904488"/>
            <a:ext cx="2231136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19" b="1">
                <a:solidFill>
                  <a:srgbClr val="F49752"/>
                </a:solidFill>
                <a:latin typeface="Microsoft YaHei"/>
              </a:rPr>
              <a:t>体检区导视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11879" y="4233672"/>
            <a:ext cx="2231136" cy="173735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680" b="0">
                <a:solidFill>
                  <a:srgbClr val="586878"/>
                </a:solidFill>
                <a:latin typeface="Microsoft YaHei"/>
              </a:rPr>
              <a:t>用颜色区分血压、血糖、BMI、咨询出口，减少现场口头解释。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8368" y="4709160"/>
            <a:ext cx="2523744" cy="685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58368" y="4709160"/>
            <a:ext cx="73152" cy="685800"/>
          </a:xfrm>
          <a:prstGeom prst="rect">
            <a:avLst/>
          </a:prstGeom>
          <a:solidFill>
            <a:srgbClr val="E766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2959" y="4818888"/>
            <a:ext cx="2231136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19" b="1">
                <a:solidFill>
                  <a:srgbClr val="E76660"/>
                </a:solidFill>
                <a:latin typeface="Microsoft YaHei"/>
              </a:rPr>
              <a:t>咨询区桌牌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59" y="5148072"/>
            <a:ext cx="2231136" cy="173735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680" b="0">
                <a:solidFill>
                  <a:srgbClr val="586878"/>
                </a:solidFill>
                <a:latin typeface="Microsoft YaHei"/>
              </a:rPr>
              <a:t>统一科室名称、咨询范围、医护姓名和二维码，强化专业秩序。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172200" y="3950208"/>
            <a:ext cx="4892040" cy="932688"/>
          </a:xfrm>
          <a:prstGeom prst="roundRect">
            <a:avLst/>
          </a:prstGeom>
          <a:solidFill>
            <a:srgbClr val="E4F8F4"/>
          </a:solidFill>
          <a:ln w="10160">
            <a:solidFill>
              <a:srgbClr val="DB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172200" y="3950208"/>
            <a:ext cx="73152" cy="932688"/>
          </a:xfrm>
          <a:prstGeom prst="rect">
            <a:avLst/>
          </a:prstGeom>
          <a:solidFill>
            <a:srgbClr val="2B7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36792" y="4059936"/>
            <a:ext cx="4599431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19" b="1">
                <a:solidFill>
                  <a:srgbClr val="2B7FC6"/>
                </a:solidFill>
                <a:latin typeface="Microsoft YaHei"/>
              </a:rPr>
              <a:t>一体化落地能力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36792" y="4389120"/>
            <a:ext cx="4599431" cy="420623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19" b="0">
                <a:solidFill>
                  <a:srgbClr val="586878"/>
                </a:solidFill>
                <a:latin typeface="Microsoft YaHei"/>
              </a:rPr>
              <a:t>承办方负责视觉设计、喷绘制作、结构搭建、现场安装和撤场回收。所有含医院 LOGO 和专业科普内容的物料需提前提交甲方审核。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920" y="6510528"/>
            <a:ext cx="60350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660" b="0">
                <a:solidFill>
                  <a:srgbClr val="586878"/>
                </a:solidFill>
                <a:latin typeface="Microsoft YaHei"/>
              </a:rPr>
              <a:t>护士节公益健康活动方案｜活动策划 · 视觉设计 · 舞美搭建 · 设备执行一体化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675120" y="6565392"/>
            <a:ext cx="4983480" cy="18288"/>
          </a:xfrm>
          <a:prstGeom prst="rect">
            <a:avLst/>
          </a:prstGeom>
          <a:solidFill>
            <a:srgbClr val="DB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2B8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56032"/>
            <a:ext cx="50292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900" b="1">
                <a:solidFill>
                  <a:srgbClr val="42B8A4"/>
                </a:solidFill>
                <a:latin typeface="Microsoft YaHei"/>
              </a:rPr>
              <a:t>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64592"/>
            <a:ext cx="9966960" cy="4206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900" b="1">
                <a:solidFill>
                  <a:srgbClr val="153754"/>
                </a:solidFill>
                <a:latin typeface="Microsoft YaHei"/>
              </a:rPr>
              <a:t>舞美与物料搭建：自有团队保障进撤场效率与现场稳定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621792"/>
            <a:ext cx="978408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80" b="0">
                <a:solidFill>
                  <a:srgbClr val="586878"/>
                </a:solidFill>
                <a:latin typeface="Microsoft YaHei"/>
              </a:rPr>
              <a:t>依托自有舞美搭建执行团队和自有舞台活动设备，减少外协沟通成本，提高现场响应速度。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378440" y="256032"/>
            <a:ext cx="1325880" cy="274320"/>
          </a:xfrm>
          <a:prstGeom prst="roundRect">
            <a:avLst/>
          </a:prstGeom>
          <a:solidFill>
            <a:srgbClr val="E4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15015" y="297180"/>
            <a:ext cx="1252728" cy="237744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750" b="1">
                <a:solidFill>
                  <a:srgbClr val="42B8A4"/>
                </a:solidFill>
                <a:latin typeface="Microsoft YaHei"/>
              </a:rPr>
              <a:t>搭建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078992"/>
            <a:ext cx="4892040" cy="2999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tage_set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133856"/>
            <a:ext cx="4782312" cy="2889503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833872" y="1060704"/>
            <a:ext cx="2514600" cy="822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833872" y="1060704"/>
            <a:ext cx="73152" cy="822960"/>
          </a:xfrm>
          <a:prstGeom prst="rect">
            <a:avLst/>
          </a:prstGeom>
          <a:solidFill>
            <a:srgbClr val="2B7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98464" y="1170431"/>
            <a:ext cx="222199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19" b="1">
                <a:solidFill>
                  <a:srgbClr val="2B7FC6"/>
                </a:solidFill>
                <a:latin typeface="Microsoft YaHei"/>
              </a:rPr>
              <a:t>舞台区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98464" y="1499616"/>
            <a:ext cx="2221992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710" b="0">
                <a:solidFill>
                  <a:srgbClr val="586878"/>
                </a:solidFill>
                <a:latin typeface="Microsoft YaHei"/>
              </a:rPr>
              <a:t>小型主舞台或平面仪式区、主背景板、讲台、主持位、合影站位、摄影通道。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22792" y="1060704"/>
            <a:ext cx="2514600" cy="822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622792" y="1060704"/>
            <a:ext cx="73152" cy="822960"/>
          </a:xfrm>
          <a:prstGeom prst="rect">
            <a:avLst/>
          </a:prstGeom>
          <a:solidFill>
            <a:srgbClr val="42B8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87384" y="1170431"/>
            <a:ext cx="222199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19" b="1">
                <a:solidFill>
                  <a:srgbClr val="42B8A4"/>
                </a:solidFill>
                <a:latin typeface="Microsoft YaHei"/>
              </a:rPr>
              <a:t>显示系统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87384" y="1499616"/>
            <a:ext cx="2221992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710" b="0">
                <a:solidFill>
                  <a:srgbClr val="586878"/>
                </a:solidFill>
                <a:latin typeface="Microsoft YaHei"/>
              </a:rPr>
              <a:t>LED 屏或电视屏，用于播放致敬短片、流程提示、健康科普和现场照片。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33872" y="2139696"/>
            <a:ext cx="2514600" cy="822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833872" y="2139696"/>
            <a:ext cx="73152" cy="822960"/>
          </a:xfrm>
          <a:prstGeom prst="rect">
            <a:avLst/>
          </a:prstGeom>
          <a:solidFill>
            <a:srgbClr val="6FBE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98464" y="2249424"/>
            <a:ext cx="222199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19" b="1">
                <a:solidFill>
                  <a:srgbClr val="6FBE7B"/>
                </a:solidFill>
                <a:latin typeface="Microsoft YaHei"/>
              </a:rPr>
              <a:t>灯光音响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98464" y="2578608"/>
            <a:ext cx="2221992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710" b="0">
                <a:solidFill>
                  <a:srgbClr val="586878"/>
                </a:solidFill>
                <a:latin typeface="Microsoft YaHei"/>
              </a:rPr>
              <a:t>主扩音响、无线麦、补光灯和基础氛围灯，保证主持、分享和讲座清晰可听。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22792" y="2139696"/>
            <a:ext cx="2514600" cy="822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622792" y="2139696"/>
            <a:ext cx="73152" cy="822960"/>
          </a:xfrm>
          <a:prstGeom prst="rect">
            <a:avLst/>
          </a:prstGeom>
          <a:solidFill>
            <a:srgbClr val="F49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87384" y="2249424"/>
            <a:ext cx="222199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19" b="1">
                <a:solidFill>
                  <a:srgbClr val="F49752"/>
                </a:solidFill>
                <a:latin typeface="Microsoft YaHei"/>
              </a:rPr>
              <a:t>签到导视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87384" y="2578608"/>
            <a:ext cx="2221992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710" b="0">
                <a:solidFill>
                  <a:srgbClr val="586878"/>
                </a:solidFill>
                <a:latin typeface="Microsoft YaHei"/>
              </a:rPr>
              <a:t>签到台、欢迎立牌、总导览牌、区域导视、排队地贴和咨询引导牌。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833872" y="3218687"/>
            <a:ext cx="2514600" cy="822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833872" y="3218687"/>
            <a:ext cx="73152" cy="822960"/>
          </a:xfrm>
          <a:prstGeom prst="rect">
            <a:avLst/>
          </a:prstGeom>
          <a:solidFill>
            <a:srgbClr val="E766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98464" y="3328415"/>
            <a:ext cx="222199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19" b="1">
                <a:solidFill>
                  <a:srgbClr val="E76660"/>
                </a:solidFill>
                <a:latin typeface="Microsoft YaHei"/>
              </a:rPr>
              <a:t>展陈物料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98464" y="3657599"/>
            <a:ext cx="2221992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710" b="0">
                <a:solidFill>
                  <a:srgbClr val="586878"/>
                </a:solidFill>
                <a:latin typeface="Microsoft YaHei"/>
              </a:rPr>
              <a:t>科普展板、易拉宝、桌牌、手举牌、祝福墙、打卡装置、健康承诺卡。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622792" y="3218687"/>
            <a:ext cx="2514600" cy="822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622792" y="3218687"/>
            <a:ext cx="73152" cy="822960"/>
          </a:xfrm>
          <a:prstGeom prst="rect">
            <a:avLst/>
          </a:prstGeom>
          <a:solidFill>
            <a:srgbClr val="56A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87384" y="3328415"/>
            <a:ext cx="222199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19" b="1">
                <a:solidFill>
                  <a:srgbClr val="56A0D6"/>
                </a:solidFill>
                <a:latin typeface="Microsoft YaHei"/>
              </a:rPr>
              <a:t>现场保障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87384" y="3657599"/>
            <a:ext cx="2221992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710" b="0">
                <a:solidFill>
                  <a:srgbClr val="586878"/>
                </a:solidFill>
                <a:latin typeface="Microsoft YaHei"/>
              </a:rPr>
              <a:t>线槽、配电箱、工具包、备用麦、电池、雨棚、防滑垫和应急物料。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8368" y="4800600"/>
            <a:ext cx="10625328" cy="777240"/>
          </a:xfrm>
          <a:prstGeom prst="roundRect">
            <a:avLst/>
          </a:prstGeom>
          <a:solidFill>
            <a:srgbClr val="E4F8F4"/>
          </a:solidFill>
          <a:ln w="10160">
            <a:solidFill>
              <a:srgbClr val="DB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58368" y="4800600"/>
            <a:ext cx="73152" cy="777240"/>
          </a:xfrm>
          <a:prstGeom prst="rect">
            <a:avLst/>
          </a:prstGeom>
          <a:solidFill>
            <a:srgbClr val="42B8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959" y="4910328"/>
            <a:ext cx="10332719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19" b="1">
                <a:solidFill>
                  <a:srgbClr val="42B8A4"/>
                </a:solidFill>
                <a:latin typeface="Microsoft YaHei"/>
              </a:rPr>
              <a:t>搭建节奏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59" y="5239512"/>
            <a:ext cx="10332719" cy="265175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19" b="0">
                <a:solidFill>
                  <a:srgbClr val="586878"/>
                </a:solidFill>
                <a:latin typeface="Microsoft YaHei"/>
              </a:rPr>
              <a:t>建议活动前一天或前半天进场，完成结构搭建、画面安装、电源测试、灯光音响联调和安全检查；活动结束后按医院要求撤场，保证场地恢复整洁。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6510528"/>
            <a:ext cx="60350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660" b="0">
                <a:solidFill>
                  <a:srgbClr val="586878"/>
                </a:solidFill>
                <a:latin typeface="Microsoft YaHei"/>
              </a:rPr>
              <a:t>护士节公益健康活动方案｜活动策划 · 视觉设计 · 舞美搭建 · 设备执行一体化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675120" y="6565392"/>
            <a:ext cx="4983480" cy="18288"/>
          </a:xfrm>
          <a:prstGeom prst="rect">
            <a:avLst/>
          </a:prstGeom>
          <a:solidFill>
            <a:srgbClr val="DB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2B8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56032"/>
            <a:ext cx="50292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900" b="1">
                <a:solidFill>
                  <a:srgbClr val="42B8A4"/>
                </a:solidFill>
                <a:latin typeface="Microsoft YaHei"/>
              </a:rPr>
              <a:t>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64592"/>
            <a:ext cx="9966960" cy="4206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900" b="1">
                <a:solidFill>
                  <a:srgbClr val="153754"/>
                </a:solidFill>
                <a:latin typeface="Microsoft YaHei"/>
              </a:rPr>
              <a:t>人员分工与执行保障：职责清晰，现场才稳定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621792"/>
            <a:ext cx="978408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80" b="0">
                <a:solidFill>
                  <a:srgbClr val="586878"/>
                </a:solidFill>
                <a:latin typeface="Microsoft YaHei"/>
              </a:rPr>
              <a:t>医院医护、承办执行、志愿者和安保需要提前定责、定岗、定流程。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378440" y="256032"/>
            <a:ext cx="1325880" cy="274320"/>
          </a:xfrm>
          <a:prstGeom prst="roundRect">
            <a:avLst/>
          </a:prstGeom>
          <a:solidFill>
            <a:srgbClr val="E4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15015" y="297180"/>
            <a:ext cx="1252728" cy="237744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750" b="1">
                <a:solidFill>
                  <a:srgbClr val="42B8A4"/>
                </a:solidFill>
                <a:latin typeface="Microsoft YaHei"/>
              </a:rPr>
              <a:t>执行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097280"/>
            <a:ext cx="4114800" cy="2852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team_o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152144"/>
            <a:ext cx="4005072" cy="274320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074920" y="1024128"/>
            <a:ext cx="2788920" cy="6949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74920" y="1024128"/>
            <a:ext cx="73152" cy="694944"/>
          </a:xfrm>
          <a:prstGeom prst="rect">
            <a:avLst/>
          </a:prstGeom>
          <a:solidFill>
            <a:srgbClr val="2B7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39512" y="1133856"/>
            <a:ext cx="249631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19" b="1">
                <a:solidFill>
                  <a:srgbClr val="2B7FC6"/>
                </a:solidFill>
                <a:latin typeface="Microsoft YaHei"/>
              </a:rPr>
              <a:t>项目总控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39512" y="1463040"/>
            <a:ext cx="2496312" cy="182879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660" b="0">
                <a:solidFill>
                  <a:srgbClr val="586878"/>
                </a:solidFill>
                <a:latin typeface="Microsoft YaHei"/>
              </a:rPr>
              <a:t>统筹进度、现场决策、甲方沟通和突发问题处理。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024128"/>
            <a:ext cx="2788920" cy="6949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1024128"/>
            <a:ext cx="73152" cy="694944"/>
          </a:xfrm>
          <a:prstGeom prst="rect">
            <a:avLst/>
          </a:prstGeom>
          <a:solidFill>
            <a:srgbClr val="42B8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2752" y="1133856"/>
            <a:ext cx="249631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19" b="1">
                <a:solidFill>
                  <a:srgbClr val="42B8A4"/>
                </a:solidFill>
                <a:latin typeface="Microsoft YaHei"/>
              </a:rPr>
              <a:t>客户对接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2752" y="1463040"/>
            <a:ext cx="2496312" cy="182879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660" b="0">
                <a:solidFill>
                  <a:srgbClr val="586878"/>
                </a:solidFill>
                <a:latin typeface="Microsoft YaHei"/>
              </a:rPr>
              <a:t>确认医院需求、物料审核、医护排班和流程节点。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74920" y="1938528"/>
            <a:ext cx="2788920" cy="6949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74920" y="1938528"/>
            <a:ext cx="73152" cy="694944"/>
          </a:xfrm>
          <a:prstGeom prst="rect">
            <a:avLst/>
          </a:prstGeom>
          <a:solidFill>
            <a:srgbClr val="6FBE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39512" y="2048256"/>
            <a:ext cx="249631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19" b="1">
                <a:solidFill>
                  <a:srgbClr val="6FBE7B"/>
                </a:solidFill>
                <a:latin typeface="Microsoft YaHei"/>
              </a:rPr>
              <a:t>设计团队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39512" y="2377440"/>
            <a:ext cx="2496312" cy="182879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660" b="0">
                <a:solidFill>
                  <a:srgbClr val="586878"/>
                </a:solidFill>
                <a:latin typeface="Microsoft YaHei"/>
              </a:rPr>
              <a:t>完成主视觉、物料延展、导视系统和朋友圈海报。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38160" y="1938528"/>
            <a:ext cx="2788920" cy="6949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138160" y="1938528"/>
            <a:ext cx="73152" cy="694944"/>
          </a:xfrm>
          <a:prstGeom prst="rect">
            <a:avLst/>
          </a:prstGeom>
          <a:solidFill>
            <a:srgbClr val="F49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02752" y="2048256"/>
            <a:ext cx="249631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19" b="1">
                <a:solidFill>
                  <a:srgbClr val="F49752"/>
                </a:solidFill>
                <a:latin typeface="Microsoft YaHei"/>
              </a:rPr>
              <a:t>搭建设备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02752" y="2377440"/>
            <a:ext cx="2496312" cy="182879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660" b="0">
                <a:solidFill>
                  <a:srgbClr val="586878"/>
                </a:solidFill>
                <a:latin typeface="Microsoft YaHei"/>
              </a:rPr>
              <a:t>负责舞台、美陈、灯光音响、显示设备、桌椅和电源安全。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74920" y="2852928"/>
            <a:ext cx="2788920" cy="6949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074920" y="2852928"/>
            <a:ext cx="73152" cy="694944"/>
          </a:xfrm>
          <a:prstGeom prst="rect">
            <a:avLst/>
          </a:prstGeom>
          <a:solidFill>
            <a:srgbClr val="2B7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239512" y="2962656"/>
            <a:ext cx="249631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19" b="1">
                <a:solidFill>
                  <a:srgbClr val="2B7FC6"/>
                </a:solidFill>
                <a:latin typeface="Microsoft YaHei"/>
              </a:rPr>
              <a:t>主持摄影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39512" y="3291840"/>
            <a:ext cx="2496312" cy="182879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660" b="0">
                <a:solidFill>
                  <a:srgbClr val="586878"/>
                </a:solidFill>
                <a:latin typeface="Microsoft YaHei"/>
              </a:rPr>
              <a:t>把控仪式节奏、讲座衔接、活动记录和传播素材采集。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38160" y="2852928"/>
            <a:ext cx="2788920" cy="6949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138160" y="2852928"/>
            <a:ext cx="73152" cy="694944"/>
          </a:xfrm>
          <a:prstGeom prst="rect">
            <a:avLst/>
          </a:prstGeom>
          <a:solidFill>
            <a:srgbClr val="42B8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02752" y="2962656"/>
            <a:ext cx="249631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19" b="1">
                <a:solidFill>
                  <a:srgbClr val="42B8A4"/>
                </a:solidFill>
                <a:latin typeface="Microsoft YaHei"/>
              </a:rPr>
              <a:t>医护协调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02752" y="3291840"/>
            <a:ext cx="2496312" cy="182879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660" b="0">
                <a:solidFill>
                  <a:srgbClr val="586878"/>
                </a:solidFill>
                <a:latin typeface="Microsoft YaHei"/>
              </a:rPr>
              <a:t>由医院安排检测和咨询人员，明确项目边界、耗材和隐私要求。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74920" y="3767328"/>
            <a:ext cx="2788920" cy="6949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74920" y="3767328"/>
            <a:ext cx="73152" cy="694944"/>
          </a:xfrm>
          <a:prstGeom prst="rect">
            <a:avLst/>
          </a:prstGeom>
          <a:solidFill>
            <a:srgbClr val="6FBE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239512" y="3877056"/>
            <a:ext cx="249631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19" b="1">
                <a:solidFill>
                  <a:srgbClr val="6FBE7B"/>
                </a:solidFill>
                <a:latin typeface="Microsoft YaHei"/>
              </a:rPr>
              <a:t>志愿秩序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239512" y="4206240"/>
            <a:ext cx="2496312" cy="182879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660" b="0">
                <a:solidFill>
                  <a:srgbClr val="586878"/>
                </a:solidFill>
                <a:latin typeface="Microsoft YaHei"/>
              </a:rPr>
              <a:t>负责签到、分流、排队、老人协助、物料发放和打卡引导。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138160" y="3767328"/>
            <a:ext cx="2788920" cy="6949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138160" y="3767328"/>
            <a:ext cx="73152" cy="694944"/>
          </a:xfrm>
          <a:prstGeom prst="rect">
            <a:avLst/>
          </a:prstGeom>
          <a:solidFill>
            <a:srgbClr val="F49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02752" y="3877056"/>
            <a:ext cx="249631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19" b="1">
                <a:solidFill>
                  <a:srgbClr val="F49752"/>
                </a:solidFill>
                <a:latin typeface="Microsoft YaHei"/>
              </a:rPr>
              <a:t>物料管理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02752" y="4206240"/>
            <a:ext cx="2496312" cy="182879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660" b="0">
                <a:solidFill>
                  <a:srgbClr val="586878"/>
                </a:solidFill>
                <a:latin typeface="Microsoft YaHei"/>
              </a:rPr>
              <a:t>建立物料清单、进场验收、现场补给和撤场回收机制。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58368" y="4572000"/>
            <a:ext cx="10661904" cy="822960"/>
          </a:xfrm>
          <a:prstGeom prst="roundRect">
            <a:avLst/>
          </a:prstGeom>
          <a:solidFill>
            <a:srgbClr val="E4F8F4"/>
          </a:solidFill>
          <a:ln w="10160">
            <a:solidFill>
              <a:srgbClr val="DB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58368" y="4572000"/>
            <a:ext cx="73152" cy="822960"/>
          </a:xfrm>
          <a:prstGeom prst="rect">
            <a:avLst/>
          </a:prstGeom>
          <a:solidFill>
            <a:srgbClr val="42B8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2959" y="4681728"/>
            <a:ext cx="10369296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19" b="1">
                <a:solidFill>
                  <a:srgbClr val="42B8A4"/>
                </a:solidFill>
                <a:latin typeface="Microsoft YaHei"/>
              </a:rPr>
              <a:t>执行交底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2959" y="5010912"/>
            <a:ext cx="10369296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19" b="0">
                <a:solidFill>
                  <a:srgbClr val="586878"/>
                </a:solidFill>
                <a:latin typeface="Microsoft YaHei"/>
              </a:rPr>
              <a:t>活动前至少进行一次全员线上确认和一次现场走台，重点确认上台顺序、检测流程、应急联系人、设备开关机、摄影点位和撤场路径。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2920" y="6510528"/>
            <a:ext cx="60350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660" b="0">
                <a:solidFill>
                  <a:srgbClr val="586878"/>
                </a:solidFill>
                <a:latin typeface="Microsoft YaHei"/>
              </a:rPr>
              <a:t>护士节公益健康活动方案｜活动策划 · 视觉设计 · 舞美搭建 · 设备执行一体化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675120" y="6565392"/>
            <a:ext cx="4983480" cy="18288"/>
          </a:xfrm>
          <a:prstGeom prst="rect">
            <a:avLst/>
          </a:prstGeom>
          <a:solidFill>
            <a:srgbClr val="DB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2B8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56032"/>
            <a:ext cx="50292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900" b="1">
                <a:solidFill>
                  <a:srgbClr val="42B8A4"/>
                </a:solidFill>
                <a:latin typeface="Microsoft YaHei"/>
              </a:rPr>
              <a:t>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64592"/>
            <a:ext cx="9966960" cy="4206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900" b="1">
                <a:solidFill>
                  <a:srgbClr val="153754"/>
                </a:solidFill>
                <a:latin typeface="Microsoft YaHei"/>
              </a:rPr>
              <a:t>风险预案：把公益现场的不确定性前置管理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621792"/>
            <a:ext cx="978408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80" b="0">
                <a:solidFill>
                  <a:srgbClr val="586878"/>
                </a:solidFill>
                <a:latin typeface="Microsoft YaHei"/>
              </a:rPr>
              <a:t>风险管理覆盖人流、排队、天气、设备、老人安全、医疗隐私和突发不适。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378440" y="256032"/>
            <a:ext cx="1325880" cy="274320"/>
          </a:xfrm>
          <a:prstGeom prst="roundRect">
            <a:avLst/>
          </a:prstGeom>
          <a:solidFill>
            <a:srgbClr val="E4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15015" y="297180"/>
            <a:ext cx="1252728" cy="237744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750" b="1">
                <a:solidFill>
                  <a:srgbClr val="42B8A4"/>
                </a:solidFill>
                <a:latin typeface="Microsoft YaHei"/>
              </a:rPr>
              <a:t>风险</a:t>
            </a:r>
          </a:p>
        </p:txBody>
      </p:sp>
      <p:pic>
        <p:nvPicPr>
          <p:cNvPr id="9" name="Picture 8" descr="team_o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6768" y="658368"/>
            <a:ext cx="621792" cy="393192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58368" y="1024128"/>
            <a:ext cx="5102352" cy="7863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024128"/>
            <a:ext cx="73152" cy="786384"/>
          </a:xfrm>
          <a:prstGeom prst="rect">
            <a:avLst/>
          </a:prstGeom>
          <a:solidFill>
            <a:srgbClr val="2B7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133856"/>
            <a:ext cx="4809744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19" b="1">
                <a:solidFill>
                  <a:srgbClr val="2B7FC6"/>
                </a:solidFill>
                <a:latin typeface="Microsoft YaHei"/>
              </a:rPr>
              <a:t>人流拥堵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1463040"/>
            <a:ext cx="4809744" cy="274319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740" b="0">
                <a:solidFill>
                  <a:srgbClr val="586878"/>
                </a:solidFill>
                <a:latin typeface="Microsoft YaHei"/>
              </a:rPr>
              <a:t>分时段预约与现场号码贴并行；入口设置分流志愿者，热门项目增加等候座椅。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0488" y="1024128"/>
            <a:ext cx="5102352" cy="7863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0488" y="1024128"/>
            <a:ext cx="73152" cy="786384"/>
          </a:xfrm>
          <a:prstGeom prst="rect">
            <a:avLst/>
          </a:prstGeom>
          <a:solidFill>
            <a:srgbClr val="42B8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79" y="1133856"/>
            <a:ext cx="4809744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19" b="1">
                <a:solidFill>
                  <a:srgbClr val="42B8A4"/>
                </a:solidFill>
                <a:latin typeface="Microsoft YaHei"/>
              </a:rPr>
              <a:t>体检排队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79" y="1463040"/>
            <a:ext cx="4809744" cy="274319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740" b="0">
                <a:solidFill>
                  <a:srgbClr val="586878"/>
                </a:solidFill>
                <a:latin typeface="Microsoft YaHei"/>
              </a:rPr>
              <a:t>每个项目设置等待提示，体检区满负荷时引导市民先参与科普或运动互动。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2048256"/>
            <a:ext cx="5102352" cy="7863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2048256"/>
            <a:ext cx="73152" cy="786384"/>
          </a:xfrm>
          <a:prstGeom prst="rect">
            <a:avLst/>
          </a:prstGeom>
          <a:solidFill>
            <a:srgbClr val="6FBE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59" y="2157984"/>
            <a:ext cx="4809744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19" b="1">
                <a:solidFill>
                  <a:srgbClr val="6FBE7B"/>
                </a:solidFill>
                <a:latin typeface="Microsoft YaHei"/>
              </a:rPr>
              <a:t>天气变化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59" y="2487168"/>
            <a:ext cx="4809744" cy="274319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740" b="0">
                <a:solidFill>
                  <a:srgbClr val="586878"/>
                </a:solidFill>
                <a:latin typeface="Microsoft YaHei"/>
              </a:rPr>
              <a:t>户外准备帐篷、雨棚、防滑垫和设备防雨方案；高温增加饮水点和休息区。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0488" y="2048256"/>
            <a:ext cx="5102352" cy="7863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90488" y="2048256"/>
            <a:ext cx="73152" cy="786384"/>
          </a:xfrm>
          <a:prstGeom prst="rect">
            <a:avLst/>
          </a:prstGeom>
          <a:solidFill>
            <a:srgbClr val="F49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79" y="2157984"/>
            <a:ext cx="4809744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19" b="1">
                <a:solidFill>
                  <a:srgbClr val="F49752"/>
                </a:solidFill>
                <a:latin typeface="Microsoft YaHei"/>
              </a:rPr>
              <a:t>设备故障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79" y="2487168"/>
            <a:ext cx="4809744" cy="274319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740" b="0">
                <a:solidFill>
                  <a:srgbClr val="586878"/>
                </a:solidFill>
                <a:latin typeface="Microsoft YaHei"/>
              </a:rPr>
              <a:t>音响、麦克风、显示屏、血压计等准备备用设备和电池，技术人员全程值守。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3072384"/>
            <a:ext cx="5102352" cy="7863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3072384"/>
            <a:ext cx="73152" cy="786384"/>
          </a:xfrm>
          <a:prstGeom prst="rect">
            <a:avLst/>
          </a:prstGeom>
          <a:solidFill>
            <a:srgbClr val="E766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59" y="3182112"/>
            <a:ext cx="4809744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19" b="1">
                <a:solidFill>
                  <a:srgbClr val="E76660"/>
                </a:solidFill>
                <a:latin typeface="Microsoft YaHei"/>
              </a:rPr>
              <a:t>老人安全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59" y="3511296"/>
            <a:ext cx="4809744" cy="274319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740" b="0">
                <a:solidFill>
                  <a:srgbClr val="586878"/>
                </a:solidFill>
                <a:latin typeface="Microsoft YaHei"/>
              </a:rPr>
              <a:t>运动前提醒量力而行，出现头晕、胸闷等不适立即停止并联系现场医护。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90488" y="3072384"/>
            <a:ext cx="5102352" cy="7863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90488" y="3072384"/>
            <a:ext cx="73152" cy="786384"/>
          </a:xfrm>
          <a:prstGeom prst="rect">
            <a:avLst/>
          </a:prstGeom>
          <a:solidFill>
            <a:srgbClr val="56A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55079" y="3182112"/>
            <a:ext cx="4809744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19" b="1">
                <a:solidFill>
                  <a:srgbClr val="56A0D6"/>
                </a:solidFill>
                <a:latin typeface="Microsoft YaHei"/>
              </a:rPr>
              <a:t>医疗隐私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79" y="3511296"/>
            <a:ext cx="4809744" cy="274319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740" b="0">
                <a:solidFill>
                  <a:srgbClr val="586878"/>
                </a:solidFill>
                <a:latin typeface="Microsoft YaHei"/>
              </a:rPr>
              <a:t>检测结果不公开展示，登记表不随意堆放，咨询区保持适当沟通距离。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8" y="4096512"/>
            <a:ext cx="5102352" cy="7863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58368" y="4096512"/>
            <a:ext cx="73152" cy="786384"/>
          </a:xfrm>
          <a:prstGeom prst="rect">
            <a:avLst/>
          </a:prstGeom>
          <a:solidFill>
            <a:srgbClr val="42B8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959" y="4206240"/>
            <a:ext cx="4809744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19" b="1">
                <a:solidFill>
                  <a:srgbClr val="42B8A4"/>
                </a:solidFill>
                <a:latin typeface="Microsoft YaHei"/>
              </a:rPr>
              <a:t>现场秩序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59" y="4535424"/>
            <a:ext cx="4809744" cy="274319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740" b="0">
                <a:solidFill>
                  <a:srgbClr val="586878"/>
                </a:solidFill>
                <a:latin typeface="Microsoft YaHei"/>
              </a:rPr>
              <a:t>安保与志愿者保持通道畅通，消防通道不摆物料，线缆使用线槽固定。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90488" y="4096512"/>
            <a:ext cx="5102352" cy="7863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190488" y="4096512"/>
            <a:ext cx="73152" cy="786384"/>
          </a:xfrm>
          <a:prstGeom prst="rect">
            <a:avLst/>
          </a:prstGeom>
          <a:solidFill>
            <a:srgbClr val="F49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55079" y="4206240"/>
            <a:ext cx="4809744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19" b="1">
                <a:solidFill>
                  <a:srgbClr val="F49752"/>
                </a:solidFill>
                <a:latin typeface="Microsoft YaHei"/>
              </a:rPr>
              <a:t>突发不适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55079" y="4535424"/>
            <a:ext cx="4809744" cy="274319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740" b="0">
                <a:solidFill>
                  <a:srgbClr val="586878"/>
                </a:solidFill>
                <a:latin typeface="Microsoft YaHei"/>
              </a:rPr>
              <a:t>由医院医护按医疗流程处置，承办方负责疏导围观、保留通道和通知总控。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5422392"/>
            <a:ext cx="10652760" cy="658368"/>
          </a:xfrm>
          <a:prstGeom prst="roundRect">
            <a:avLst/>
          </a:prstGeom>
          <a:solidFill>
            <a:srgbClr val="E4F8F4"/>
          </a:solidFill>
          <a:ln w="10160">
            <a:solidFill>
              <a:srgbClr val="DB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58368" y="5422392"/>
            <a:ext cx="73152" cy="658368"/>
          </a:xfrm>
          <a:prstGeom prst="rect">
            <a:avLst/>
          </a:prstGeom>
          <a:solidFill>
            <a:srgbClr val="42B8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2959" y="5532120"/>
            <a:ext cx="1036015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19" b="1">
                <a:solidFill>
                  <a:srgbClr val="42B8A4"/>
                </a:solidFill>
                <a:latin typeface="Microsoft YaHei"/>
              </a:rPr>
              <a:t>响应机制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959" y="5861304"/>
            <a:ext cx="10360152" cy="146303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80" b="0">
                <a:solidFill>
                  <a:srgbClr val="586878"/>
                </a:solidFill>
                <a:latin typeface="Microsoft YaHei"/>
              </a:rPr>
              <a:t>现场统一采用“谁发现、谁上报、谁处理、谁对外沟通”的链路。医疗相关事件以医院医护判断和流程为准，承办方配合秩序维护与现场沟通。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920" y="6510528"/>
            <a:ext cx="60350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660" b="0">
                <a:solidFill>
                  <a:srgbClr val="586878"/>
                </a:solidFill>
                <a:latin typeface="Microsoft YaHei"/>
              </a:rPr>
              <a:t>护士节公益健康活动方案｜活动策划 · 视觉设计 · 舞美搭建 · 设备执行一体化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675120" y="6565392"/>
            <a:ext cx="4983480" cy="18288"/>
          </a:xfrm>
          <a:prstGeom prst="rect">
            <a:avLst/>
          </a:prstGeom>
          <a:solidFill>
            <a:srgbClr val="DB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2B8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56032"/>
            <a:ext cx="50292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900" b="1">
                <a:solidFill>
                  <a:srgbClr val="42B8A4"/>
                </a:solidFill>
                <a:latin typeface="Microsoft YaHei"/>
              </a:rPr>
              <a:t>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64592"/>
            <a:ext cx="9966960" cy="4206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900" b="1">
                <a:solidFill>
                  <a:srgbClr val="153754"/>
                </a:solidFill>
                <a:latin typeface="Microsoft YaHei"/>
              </a:rPr>
              <a:t>预期效果：让一次公益活动沉淀为医院长期连接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621792"/>
            <a:ext cx="978408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80" b="0">
                <a:solidFill>
                  <a:srgbClr val="586878"/>
                </a:solidFill>
                <a:latin typeface="Microsoft YaHei"/>
              </a:rPr>
              <a:t>活动成果从品牌、参与、公益、传播、社区关系和后续健康管理六个维度评估。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378440" y="256032"/>
            <a:ext cx="1325880" cy="274320"/>
          </a:xfrm>
          <a:prstGeom prst="roundRect">
            <a:avLst/>
          </a:prstGeom>
          <a:solidFill>
            <a:srgbClr val="E4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15015" y="297180"/>
            <a:ext cx="1252728" cy="237744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750" b="1">
                <a:solidFill>
                  <a:srgbClr val="42B8A4"/>
                </a:solidFill>
                <a:latin typeface="Microsoft YaHei"/>
              </a:rPr>
              <a:t>成果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060704"/>
            <a:ext cx="4343400" cy="28346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etrics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" y="1115568"/>
            <a:ext cx="4233672" cy="2724912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349240" y="1042415"/>
            <a:ext cx="2606040" cy="822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49240" y="1042415"/>
            <a:ext cx="73152" cy="822960"/>
          </a:xfrm>
          <a:prstGeom prst="rect">
            <a:avLst/>
          </a:prstGeom>
          <a:solidFill>
            <a:srgbClr val="2B7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13831" y="1152143"/>
            <a:ext cx="231343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19" b="1">
                <a:solidFill>
                  <a:srgbClr val="2B7FC6"/>
                </a:solidFill>
                <a:latin typeface="Microsoft YaHei"/>
              </a:rPr>
              <a:t>医院品牌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13831" y="1481328"/>
            <a:ext cx="2313432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720" b="0">
                <a:solidFill>
                  <a:srgbClr val="586878"/>
                </a:solidFill>
                <a:latin typeface="Microsoft YaHei"/>
              </a:rPr>
              <a:t>强化医院专业、可靠、有温度的公众形象，让护理团队的守护精神被看见。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1042415"/>
            <a:ext cx="2606040" cy="822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1042415"/>
            <a:ext cx="73152" cy="822960"/>
          </a:xfrm>
          <a:prstGeom prst="rect">
            <a:avLst/>
          </a:prstGeom>
          <a:solidFill>
            <a:srgbClr val="42B8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94192" y="1152143"/>
            <a:ext cx="231343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19" b="1">
                <a:solidFill>
                  <a:srgbClr val="42B8A4"/>
                </a:solidFill>
                <a:latin typeface="Microsoft YaHei"/>
              </a:rPr>
              <a:t>公众参与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4192" y="1481328"/>
            <a:ext cx="2313432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720" b="0">
                <a:solidFill>
                  <a:srgbClr val="586878"/>
                </a:solidFill>
                <a:latin typeface="Microsoft YaHei"/>
              </a:rPr>
              <a:t>让市民至少完成一次检测、一次咨询或一次运动体验，提升健康行动意愿。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49240" y="2103120"/>
            <a:ext cx="2606040" cy="822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349240" y="2103120"/>
            <a:ext cx="73152" cy="822960"/>
          </a:xfrm>
          <a:prstGeom prst="rect">
            <a:avLst/>
          </a:prstGeom>
          <a:solidFill>
            <a:srgbClr val="6FBE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513831" y="2212848"/>
            <a:ext cx="231343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19" b="1">
                <a:solidFill>
                  <a:srgbClr val="6FBE7B"/>
                </a:solidFill>
                <a:latin typeface="Microsoft YaHei"/>
              </a:rPr>
              <a:t>公益影响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13831" y="2542032"/>
            <a:ext cx="2313432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720" b="0">
                <a:solidFill>
                  <a:srgbClr val="586878"/>
                </a:solidFill>
                <a:latin typeface="Microsoft YaHei"/>
              </a:rPr>
              <a:t>把医院服务主动送到市民身边，形成社区和媒体可记录的公益案例。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0" y="2103120"/>
            <a:ext cx="2606040" cy="822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29600" y="2103120"/>
            <a:ext cx="73152" cy="822960"/>
          </a:xfrm>
          <a:prstGeom prst="rect">
            <a:avLst/>
          </a:prstGeom>
          <a:solidFill>
            <a:srgbClr val="F49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94192" y="2212848"/>
            <a:ext cx="231343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19" b="1">
                <a:solidFill>
                  <a:srgbClr val="F49752"/>
                </a:solidFill>
                <a:latin typeface="Microsoft YaHei"/>
              </a:rPr>
              <a:t>传播曝光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94192" y="2542032"/>
            <a:ext cx="2313432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720" b="0">
                <a:solidFill>
                  <a:srgbClr val="586878"/>
                </a:solidFill>
                <a:latin typeface="Microsoft YaHei"/>
              </a:rPr>
              <a:t>通过现场照片、朋友圈打卡、医院公众号和社区群形成二次传播。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349240" y="3163824"/>
            <a:ext cx="2606040" cy="822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349240" y="3163824"/>
            <a:ext cx="73152" cy="822960"/>
          </a:xfrm>
          <a:prstGeom prst="rect">
            <a:avLst/>
          </a:prstGeom>
          <a:solidFill>
            <a:srgbClr val="E766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513831" y="3273552"/>
            <a:ext cx="231343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19" b="1">
                <a:solidFill>
                  <a:srgbClr val="E76660"/>
                </a:solidFill>
                <a:latin typeface="Microsoft YaHei"/>
              </a:rPr>
              <a:t>社区关系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13831" y="3602736"/>
            <a:ext cx="2313432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720" b="0">
                <a:solidFill>
                  <a:srgbClr val="586878"/>
                </a:solidFill>
                <a:latin typeface="Microsoft YaHei"/>
              </a:rPr>
              <a:t>增强医院与周边居民、社区组织、家庭人群之间的信任和互动。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0" y="3163824"/>
            <a:ext cx="2606040" cy="822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29600" y="3163824"/>
            <a:ext cx="73152" cy="822960"/>
          </a:xfrm>
          <a:prstGeom prst="rect">
            <a:avLst/>
          </a:prstGeom>
          <a:solidFill>
            <a:srgbClr val="56A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94192" y="3273552"/>
            <a:ext cx="231343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19" b="1">
                <a:solidFill>
                  <a:srgbClr val="56A0D6"/>
                </a:solidFill>
                <a:latin typeface="Microsoft YaHei"/>
              </a:rPr>
              <a:t>后续转化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94192" y="3602736"/>
            <a:ext cx="2313432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720" b="0">
                <a:solidFill>
                  <a:srgbClr val="586878"/>
                </a:solidFill>
                <a:latin typeface="Microsoft YaHei"/>
              </a:rPr>
              <a:t>为体检中心、慢病管理、护理门诊和健康管理服务建立可信认知入口。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85800" y="4645152"/>
            <a:ext cx="10561320" cy="786384"/>
          </a:xfrm>
          <a:prstGeom prst="roundRect">
            <a:avLst/>
          </a:prstGeom>
          <a:solidFill>
            <a:srgbClr val="E4F8F4"/>
          </a:solidFill>
          <a:ln w="10160">
            <a:solidFill>
              <a:srgbClr val="DB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85800" y="4645152"/>
            <a:ext cx="73152" cy="786384"/>
          </a:xfrm>
          <a:prstGeom prst="rect">
            <a:avLst/>
          </a:prstGeom>
          <a:solidFill>
            <a:srgbClr val="42B8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0392" y="4754880"/>
            <a:ext cx="1026871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19" b="1">
                <a:solidFill>
                  <a:srgbClr val="42B8A4"/>
                </a:solidFill>
                <a:latin typeface="Microsoft YaHei"/>
              </a:rPr>
              <a:t>复盘交付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0392" y="5084064"/>
            <a:ext cx="10268712" cy="274319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19" b="0">
                <a:solidFill>
                  <a:srgbClr val="586878"/>
                </a:solidFill>
                <a:latin typeface="Microsoft YaHei"/>
              </a:rPr>
              <a:t>活动结束后 24 小时内提交快报：精选照片、核心数据和传播建议；3 个工作日内提交完整复盘，包含问题、改进和后续服务建议。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6510528"/>
            <a:ext cx="60350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660" b="0">
                <a:solidFill>
                  <a:srgbClr val="586878"/>
                </a:solidFill>
                <a:latin typeface="Microsoft YaHei"/>
              </a:rPr>
              <a:t>护士节公益健康活动方案｜活动策划 · 视觉设计 · 舞美搭建 · 设备执行一体化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675120" y="6565392"/>
            <a:ext cx="4983480" cy="18288"/>
          </a:xfrm>
          <a:prstGeom prst="rect">
            <a:avLst/>
          </a:prstGeom>
          <a:solidFill>
            <a:srgbClr val="DB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2B8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ver_sce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749808"/>
            <a:ext cx="5230368" cy="3154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9808" y="1225296"/>
            <a:ext cx="5394960" cy="9601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90000"/>
              </a:lnSpc>
              <a:spcAft>
                <a:spcPts val="200"/>
              </a:spcAft>
            </a:pPr>
            <a:r>
              <a:rPr sz="2700" b="1">
                <a:solidFill>
                  <a:srgbClr val="153754"/>
                </a:solidFill>
                <a:latin typeface="Microsoft YaHei"/>
              </a:rPr>
              <a:t>以专业守护健康</a:t>
            </a:r>
          </a:p>
          <a:p>
            <a:pPr algn="l">
              <a:lnSpc>
                <a:spcPct val="90000"/>
              </a:lnSpc>
              <a:spcAft>
                <a:spcPts val="200"/>
              </a:spcAft>
            </a:pPr>
            <a:r>
              <a:rPr sz="2700" b="1">
                <a:solidFill>
                  <a:srgbClr val="153754"/>
                </a:solidFill>
                <a:latin typeface="Microsoft YaHei"/>
              </a:rPr>
              <a:t>以温度连接市民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542032"/>
            <a:ext cx="5138928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400" b="1">
                <a:solidFill>
                  <a:srgbClr val="2B7FC6"/>
                </a:solidFill>
                <a:latin typeface="Microsoft YaHei"/>
              </a:rPr>
              <a:t>让护士节不止是一场致敬，更成为医院走近社区、服务公众、倡导健康生活的一次温暖行动。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3273552"/>
            <a:ext cx="5212080" cy="9144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50" b="0">
                <a:solidFill>
                  <a:srgbClr val="586878"/>
                </a:solidFill>
                <a:latin typeface="Microsoft YaHei"/>
              </a:rPr>
              <a:t>我们将以一体化活动策划与执行能力，完成从主题创意、视觉设计、美陈舞台搭建、设备保障、人员统筹到现场复盘的全流程落地，协助医院把公益服务做得有秩序、有温度、有传播力。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" y="4608576"/>
            <a:ext cx="5212080" cy="841248"/>
          </a:xfrm>
          <a:prstGeom prst="roundRect">
            <a:avLst/>
          </a:prstGeom>
          <a:solidFill>
            <a:srgbClr val="E4F8F4"/>
          </a:solidFill>
          <a:ln w="10160">
            <a:solidFill>
              <a:srgbClr val="DB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86384" y="4608576"/>
            <a:ext cx="73152" cy="841248"/>
          </a:xfrm>
          <a:prstGeom prst="rect">
            <a:avLst/>
          </a:prstGeom>
          <a:solidFill>
            <a:srgbClr val="42B8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4718304"/>
            <a:ext cx="491947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19" b="1">
                <a:solidFill>
                  <a:srgbClr val="42B8A4"/>
                </a:solidFill>
                <a:latin typeface="Microsoft YaHei"/>
              </a:rPr>
              <a:t>汇报收束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5047488"/>
            <a:ext cx="4919472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80" b="0">
                <a:solidFill>
                  <a:srgbClr val="586878"/>
                </a:solidFill>
                <a:latin typeface="Microsoft YaHei"/>
              </a:rPr>
              <a:t>本方案的核心价值，是把护理团队的节日情感、医院公益服务和市民健康行动连接在同一个现场。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" y="5742432"/>
            <a:ext cx="1508760" cy="329184"/>
          </a:xfrm>
          <a:prstGeom prst="roundRect">
            <a:avLst/>
          </a:prstGeom>
          <a:solidFill>
            <a:srgbClr val="2B7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5783580"/>
            <a:ext cx="1435607" cy="292608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919" b="1">
                <a:solidFill>
                  <a:srgbClr val="FFFFFF"/>
                </a:solidFill>
                <a:latin typeface="Microsoft YaHei"/>
              </a:rPr>
              <a:t>THANK YOU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6236208"/>
            <a:ext cx="4023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19" b="0">
                <a:solidFill>
                  <a:srgbClr val="586878"/>
                </a:solidFill>
                <a:latin typeface="Microsoft YaHei"/>
              </a:rPr>
              <a:t>医院护士节公益健康活动方案｜直接汇报版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护士节公益健康活动方案_直接汇报版</dc:title>
  <dc:subject>医院护士节公益体检与健康生活倡导活动提案</dc:subject>
  <dc:creator>Codex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